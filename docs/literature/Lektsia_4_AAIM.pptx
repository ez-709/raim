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7" r:id="rId3"/>
    <p:sldId id="262" r:id="rId4"/>
    <p:sldId id="261" r:id="rId5"/>
    <p:sldId id="256" r:id="rId6"/>
    <p:sldId id="258"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116" d="100"/>
          <a:sy n="116" d="100"/>
        </p:scale>
        <p:origin x="138" y="3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C62692CB-7641-4D32-8A20-A935E849857D}" type="datetimeFigureOut">
              <a:rPr lang="ru-RU" smtClean="0"/>
              <a:t>13.04.2026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4228632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C62692CB-7641-4D32-8A20-A935E849857D}" type="datetimeFigureOut">
              <a:rPr lang="ru-RU" smtClean="0"/>
              <a:t>13.04.2026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1349551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C62692CB-7641-4D32-8A20-A935E849857D}" type="datetimeFigureOut">
              <a:rPr lang="ru-RU" smtClean="0"/>
              <a:t>13.04.2026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3939785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C62692CB-7641-4D32-8A20-A935E849857D}" type="datetimeFigureOut">
              <a:rPr lang="ru-RU" smtClean="0"/>
              <a:t>13.04.2026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750520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C62692CB-7641-4D32-8A20-A935E849857D}" type="datetimeFigureOut">
              <a:rPr lang="ru-RU" smtClean="0"/>
              <a:t>13.04.2026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3055440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C62692CB-7641-4D32-8A20-A935E849857D}" type="datetimeFigureOut">
              <a:rPr lang="ru-RU" smtClean="0"/>
              <a:t>13.04.2026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2055659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C62692CB-7641-4D32-8A20-A935E849857D}" type="datetimeFigureOut">
              <a:rPr lang="ru-RU" smtClean="0"/>
              <a:t>13.04.2026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1542168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C62692CB-7641-4D32-8A20-A935E849857D}" type="datetimeFigureOut">
              <a:rPr lang="ru-RU" smtClean="0"/>
              <a:t>13.04.2026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1823065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C62692CB-7641-4D32-8A20-A935E849857D}" type="datetimeFigureOut">
              <a:rPr lang="ru-RU" smtClean="0"/>
              <a:t>13.04.2026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2273825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C62692CB-7641-4D32-8A20-A935E849857D}" type="datetimeFigureOut">
              <a:rPr lang="ru-RU" smtClean="0"/>
              <a:t>13.04.2026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281782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C62692CB-7641-4D32-8A20-A935E849857D}" type="datetimeFigureOut">
              <a:rPr lang="ru-RU" smtClean="0"/>
              <a:t>13.04.2026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23E9EF9-69FE-41C7-8616-C9D8B4B74288}" type="slidenum">
              <a:rPr lang="ru-RU" smtClean="0"/>
              <a:t>‹#›</a:t>
            </a:fld>
            <a:endParaRPr lang="ru-RU"/>
          </a:p>
        </p:txBody>
      </p:sp>
    </p:spTree>
    <p:extLst>
      <p:ext uri="{BB962C8B-B14F-4D97-AF65-F5344CB8AC3E}">
        <p14:creationId xmlns:p14="http://schemas.microsoft.com/office/powerpoint/2010/main" val="3178080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2692CB-7641-4D32-8A20-A935E849857D}" type="datetimeFigureOut">
              <a:rPr lang="ru-RU" smtClean="0"/>
              <a:t>13.04.2026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3E9EF9-69FE-41C7-8616-C9D8B4B74288}" type="slidenum">
              <a:rPr lang="ru-RU" smtClean="0"/>
              <a:t>‹#›</a:t>
            </a:fld>
            <a:endParaRPr lang="ru-RU"/>
          </a:p>
        </p:txBody>
      </p:sp>
    </p:spTree>
    <p:extLst>
      <p:ext uri="{BB962C8B-B14F-4D97-AF65-F5344CB8AC3E}">
        <p14:creationId xmlns:p14="http://schemas.microsoft.com/office/powerpoint/2010/main" val="2502852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24168" y="2832920"/>
            <a:ext cx="1758815" cy="369332"/>
          </a:xfrm>
          <a:prstGeom prst="rect">
            <a:avLst/>
          </a:prstGeom>
          <a:noFill/>
        </p:spPr>
        <p:txBody>
          <a:bodyPr wrap="none" rtlCol="0">
            <a:spAutoFit/>
          </a:bodyPr>
          <a:lstStyle/>
          <a:p>
            <a:pPr algn="ctr"/>
            <a:r>
              <a:rPr lang="ru-RU" b="1" dirty="0" smtClean="0"/>
              <a:t>Лекция </a:t>
            </a:r>
            <a:r>
              <a:rPr lang="en-US" b="1" dirty="0" smtClean="0"/>
              <a:t>4</a:t>
            </a:r>
            <a:r>
              <a:rPr lang="ru-RU" b="1" dirty="0" smtClean="0"/>
              <a:t>. </a:t>
            </a:r>
            <a:r>
              <a:rPr lang="en-US" b="1" dirty="0" smtClean="0"/>
              <a:t>AAIM</a:t>
            </a:r>
            <a:endParaRPr lang="ru-RU" b="1" dirty="0"/>
          </a:p>
        </p:txBody>
      </p:sp>
      <p:sp>
        <p:nvSpPr>
          <p:cNvPr id="5" name="TextBox 4"/>
          <p:cNvSpPr txBox="1"/>
          <p:nvPr/>
        </p:nvSpPr>
        <p:spPr>
          <a:xfrm>
            <a:off x="3063137" y="1082380"/>
            <a:ext cx="5480860" cy="369332"/>
          </a:xfrm>
          <a:prstGeom prst="rect">
            <a:avLst/>
          </a:prstGeom>
          <a:noFill/>
        </p:spPr>
        <p:txBody>
          <a:bodyPr wrap="none" rtlCol="0">
            <a:spAutoFit/>
          </a:bodyPr>
          <a:lstStyle/>
          <a:p>
            <a:pPr algn="ctr"/>
            <a:r>
              <a:rPr lang="ru-RU" b="1" dirty="0" smtClean="0"/>
              <a:t>Инерциально-спутниковые навигационные системы</a:t>
            </a:r>
            <a:endParaRPr lang="ru-RU" b="1" dirty="0"/>
          </a:p>
        </p:txBody>
      </p:sp>
    </p:spTree>
    <p:extLst>
      <p:ext uri="{BB962C8B-B14F-4D97-AF65-F5344CB8AC3E}">
        <p14:creationId xmlns:p14="http://schemas.microsoft.com/office/powerpoint/2010/main" val="41073258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5685529" y="163860"/>
            <a:ext cx="705641" cy="369332"/>
          </a:xfrm>
          <a:prstGeom prst="rect">
            <a:avLst/>
          </a:prstGeom>
          <a:noFill/>
        </p:spPr>
        <p:txBody>
          <a:bodyPr wrap="none" rtlCol="0">
            <a:spAutoFit/>
          </a:bodyPr>
          <a:lstStyle/>
          <a:p>
            <a:pPr algn="ctr"/>
            <a:r>
              <a:rPr lang="en-US" dirty="0" smtClean="0"/>
              <a:t>AAIM</a:t>
            </a:r>
            <a:endParaRPr lang="ru-RU" dirty="0"/>
          </a:p>
        </p:txBody>
      </p:sp>
      <p:sp>
        <p:nvSpPr>
          <p:cNvPr id="7" name="Овал 6"/>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11623242" y="173680"/>
            <a:ext cx="301686" cy="369332"/>
          </a:xfrm>
          <a:prstGeom prst="rect">
            <a:avLst/>
          </a:prstGeom>
          <a:noFill/>
        </p:spPr>
        <p:txBody>
          <a:bodyPr wrap="none" rtlCol="0">
            <a:spAutoFit/>
          </a:bodyPr>
          <a:lstStyle/>
          <a:p>
            <a:pPr algn="ctr"/>
            <a:r>
              <a:rPr lang="ru-RU" dirty="0"/>
              <a:t>2</a:t>
            </a:r>
          </a:p>
        </p:txBody>
      </p:sp>
      <p:sp>
        <p:nvSpPr>
          <p:cNvPr id="3" name="Прямоугольник 2"/>
          <p:cNvSpPr/>
          <p:nvPr/>
        </p:nvSpPr>
        <p:spPr>
          <a:xfrm>
            <a:off x="456543" y="657445"/>
            <a:ext cx="11468386" cy="2031325"/>
          </a:xfrm>
          <a:prstGeom prst="rect">
            <a:avLst/>
          </a:prstGeom>
        </p:spPr>
        <p:txBody>
          <a:bodyPr wrap="square">
            <a:spAutoFit/>
          </a:bodyPr>
          <a:lstStyle/>
          <a:p>
            <a:r>
              <a:rPr lang="ru-RU" dirty="0">
                <a:solidFill>
                  <a:srgbClr val="0F1115"/>
                </a:solidFill>
                <a:latin typeface="quote-cjk-patch"/>
              </a:rPr>
              <a:t>Существует четыре основных требования, предъявляемых к навигационным системам в общем смысле. Этими требованиями являются точность, целостность, непрерывность и доступность</a:t>
            </a:r>
            <a:r>
              <a:rPr lang="ru-RU" dirty="0" smtClean="0">
                <a:solidFill>
                  <a:srgbClr val="0F1115"/>
                </a:solidFill>
                <a:latin typeface="quote-cjk-patch"/>
              </a:rPr>
              <a:t>.</a:t>
            </a:r>
            <a:endParaRPr lang="en-US" dirty="0" smtClean="0">
              <a:solidFill>
                <a:srgbClr val="0F1115"/>
              </a:solidFill>
              <a:latin typeface="quote-cjk-patch"/>
            </a:endParaRPr>
          </a:p>
          <a:p>
            <a:endParaRPr lang="ru-RU" dirty="0">
              <a:solidFill>
                <a:srgbClr val="0F1115"/>
              </a:solidFill>
              <a:latin typeface="quote-cjk-patch"/>
            </a:endParaRPr>
          </a:p>
          <a:p>
            <a:r>
              <a:rPr lang="ru-RU" dirty="0">
                <a:solidFill>
                  <a:srgbClr val="0F1115"/>
                </a:solidFill>
                <a:latin typeface="quote-cjk-patch"/>
              </a:rPr>
              <a:t>Точность — это степень соответствия между измеренным положением и истинным положением судна. Требования к точности обычно определяются потребностями системы в обеспечении производительности при переходе от одной операции к другой. Требования к точности позиционирования выражаются в терминах позиционирования (метры, морские мили и т.д.).</a:t>
            </a:r>
            <a:endParaRPr lang="ru-RU" b="0" i="0" dirty="0">
              <a:solidFill>
                <a:srgbClr val="0F1115"/>
              </a:solidFill>
              <a:effectLst/>
              <a:latin typeface="quote-cjk-patch"/>
            </a:endParaRPr>
          </a:p>
        </p:txBody>
      </p:sp>
      <p:sp>
        <p:nvSpPr>
          <p:cNvPr id="5" name="Прямоугольник 4"/>
          <p:cNvSpPr/>
          <p:nvPr/>
        </p:nvSpPr>
        <p:spPr>
          <a:xfrm>
            <a:off x="456542" y="2688770"/>
            <a:ext cx="11611890" cy="3970318"/>
          </a:xfrm>
          <a:prstGeom prst="rect">
            <a:avLst/>
          </a:prstGeom>
        </p:spPr>
        <p:txBody>
          <a:bodyPr wrap="square">
            <a:spAutoFit/>
          </a:bodyPr>
          <a:lstStyle/>
          <a:p>
            <a:r>
              <a:rPr lang="ru-RU" dirty="0">
                <a:solidFill>
                  <a:srgbClr val="0F1115"/>
                </a:solidFill>
                <a:latin typeface="quote-cjk-patch"/>
              </a:rPr>
              <a:t>Целостность — это способность своевременно предупреждать пользователей, когда систему не следует использовать для навигации. Любая система, обладающая целостностью, должна обеспечивать оценку качества навигационного выхода. Если это качество является консервативным представлением фактической ошибки, то всё, что требуется для выполнения данной операции, — это сравнить это значение качества с максимально допустимым пределом ошибки. Этот максимально допустимый предел называется пределом тревоги. Этот предел тревоги может быть функцией операции. Если фактическая ошибка больше указанного качества, то датчик предоставляет вводящую в заблуждение информацию. Если система предоставляет вводящую в заблуждение информацию и фактическая ошибка больше предела тревоги, то система предоставляет опасную вводящую в заблуждение информацию </a:t>
            </a:r>
            <a:r>
              <a:rPr lang="ru-RU" dirty="0" smtClean="0">
                <a:solidFill>
                  <a:srgbClr val="0F1115"/>
                </a:solidFill>
                <a:latin typeface="quote-cjk-patch"/>
              </a:rPr>
              <a:t>(</a:t>
            </a:r>
            <a:r>
              <a:rPr lang="en-US" dirty="0" smtClean="0">
                <a:solidFill>
                  <a:srgbClr val="0F1115"/>
                </a:solidFill>
                <a:latin typeface="quote-cjk-patch"/>
              </a:rPr>
              <a:t>HMI</a:t>
            </a:r>
            <a:r>
              <a:rPr lang="ru-RU" dirty="0" smtClean="0">
                <a:solidFill>
                  <a:srgbClr val="0F1115"/>
                </a:solidFill>
                <a:latin typeface="quote-cjk-patch"/>
              </a:rPr>
              <a:t>). </a:t>
            </a:r>
            <a:r>
              <a:rPr lang="ru-RU" dirty="0">
                <a:solidFill>
                  <a:srgbClr val="0F1115"/>
                </a:solidFill>
                <a:latin typeface="quote-cjk-patch"/>
              </a:rPr>
              <a:t>Эти концептуальные состояния проиллюстрированы на Рисунке 1. Риск для пользователя навигационной системы заключается в том, что навигационная система предоставляет </a:t>
            </a:r>
            <a:r>
              <a:rPr lang="en-US" dirty="0" smtClean="0">
                <a:solidFill>
                  <a:srgbClr val="0F1115"/>
                </a:solidFill>
                <a:latin typeface="quote-cjk-patch"/>
              </a:rPr>
              <a:t>HMI</a:t>
            </a:r>
            <a:r>
              <a:rPr lang="ru-RU" dirty="0" smtClean="0">
                <a:solidFill>
                  <a:srgbClr val="0F1115"/>
                </a:solidFill>
                <a:latin typeface="quote-cjk-patch"/>
              </a:rPr>
              <a:t> </a:t>
            </a:r>
            <a:r>
              <a:rPr lang="ru-RU" dirty="0">
                <a:solidFill>
                  <a:srgbClr val="0F1115"/>
                </a:solidFill>
                <a:latin typeface="quote-cjk-patch"/>
              </a:rPr>
              <a:t>в течение неприемлемо долгого периода времени. Приемлемый период времени известен как время до тревоги </a:t>
            </a:r>
            <a:r>
              <a:rPr lang="ru-RU" dirty="0" smtClean="0">
                <a:solidFill>
                  <a:srgbClr val="0F1115"/>
                </a:solidFill>
                <a:latin typeface="quote-cjk-patch"/>
              </a:rPr>
              <a:t>(</a:t>
            </a:r>
            <a:r>
              <a:rPr lang="en-US" dirty="0" smtClean="0">
                <a:solidFill>
                  <a:srgbClr val="0F1115"/>
                </a:solidFill>
                <a:latin typeface="quote-cjk-patch"/>
              </a:rPr>
              <a:t>TTA</a:t>
            </a:r>
            <a:r>
              <a:rPr lang="ru-RU" dirty="0" smtClean="0">
                <a:solidFill>
                  <a:srgbClr val="0F1115"/>
                </a:solidFill>
                <a:latin typeface="quote-cjk-patch"/>
              </a:rPr>
              <a:t>). </a:t>
            </a:r>
            <a:r>
              <a:rPr lang="ru-RU" dirty="0">
                <a:solidFill>
                  <a:srgbClr val="0F1115"/>
                </a:solidFill>
                <a:latin typeface="quote-cjk-patch"/>
              </a:rPr>
              <a:t>Требования к целостности формулируются как допустимая вероятность опасной вводящей в заблуждение информации на время, превышающее время до тревоги.</a:t>
            </a:r>
            <a:endParaRPr lang="ru-RU" dirty="0"/>
          </a:p>
        </p:txBody>
      </p:sp>
    </p:spTree>
    <p:extLst>
      <p:ext uri="{BB962C8B-B14F-4D97-AF65-F5344CB8AC3E}">
        <p14:creationId xmlns:p14="http://schemas.microsoft.com/office/powerpoint/2010/main" val="298936084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5685513" y="163860"/>
            <a:ext cx="705642" cy="369332"/>
          </a:xfrm>
          <a:prstGeom prst="rect">
            <a:avLst/>
          </a:prstGeom>
          <a:noFill/>
        </p:spPr>
        <p:txBody>
          <a:bodyPr wrap="none" rtlCol="0">
            <a:spAutoFit/>
          </a:bodyPr>
          <a:lstStyle/>
          <a:p>
            <a:pPr algn="ctr"/>
            <a:r>
              <a:rPr lang="en-US" dirty="0" smtClean="0"/>
              <a:t>AAIM</a:t>
            </a:r>
            <a:endParaRPr lang="ru-RU" dirty="0"/>
          </a:p>
        </p:txBody>
      </p:sp>
      <p:sp>
        <p:nvSpPr>
          <p:cNvPr id="7" name="Овал 6"/>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11623242" y="173680"/>
            <a:ext cx="301686" cy="369332"/>
          </a:xfrm>
          <a:prstGeom prst="rect">
            <a:avLst/>
          </a:prstGeom>
          <a:noFill/>
        </p:spPr>
        <p:txBody>
          <a:bodyPr wrap="none" rtlCol="0">
            <a:spAutoFit/>
          </a:bodyPr>
          <a:lstStyle/>
          <a:p>
            <a:pPr algn="ctr"/>
            <a:r>
              <a:rPr lang="ru-RU" dirty="0" smtClean="0"/>
              <a:t>3</a:t>
            </a:r>
            <a:endParaRPr lang="ru-RU" dirty="0"/>
          </a:p>
        </p:txBody>
      </p:sp>
      <p:pic>
        <p:nvPicPr>
          <p:cNvPr id="6" name="Рисунок 5"/>
          <p:cNvPicPr>
            <a:picLocks noChangeAspect="1"/>
          </p:cNvPicPr>
          <p:nvPr/>
        </p:nvPicPr>
        <p:blipFill>
          <a:blip r:embed="rId3"/>
          <a:stretch>
            <a:fillRect/>
          </a:stretch>
        </p:blipFill>
        <p:spPr>
          <a:xfrm>
            <a:off x="2294273" y="859438"/>
            <a:ext cx="6781800" cy="5172075"/>
          </a:xfrm>
          <a:prstGeom prst="rect">
            <a:avLst/>
          </a:prstGeom>
        </p:spPr>
      </p:pic>
      <p:sp>
        <p:nvSpPr>
          <p:cNvPr id="13" name="Прямоугольник 12"/>
          <p:cNvSpPr/>
          <p:nvPr/>
        </p:nvSpPr>
        <p:spPr>
          <a:xfrm>
            <a:off x="5414605" y="6173093"/>
            <a:ext cx="1247457" cy="369332"/>
          </a:xfrm>
          <a:prstGeom prst="rect">
            <a:avLst/>
          </a:prstGeom>
        </p:spPr>
        <p:txBody>
          <a:bodyPr wrap="none">
            <a:spAutoFit/>
          </a:bodyPr>
          <a:lstStyle/>
          <a:p>
            <a:r>
              <a:rPr lang="ru-RU" dirty="0" smtClean="0">
                <a:solidFill>
                  <a:srgbClr val="0F1115"/>
                </a:solidFill>
                <a:latin typeface="quote-cjk-patch"/>
              </a:rPr>
              <a:t>Рисунок </a:t>
            </a:r>
            <a:r>
              <a:rPr lang="ru-RU" dirty="0">
                <a:solidFill>
                  <a:srgbClr val="0F1115"/>
                </a:solidFill>
                <a:latin typeface="quote-cjk-patch"/>
              </a:rPr>
              <a:t>1</a:t>
            </a:r>
            <a:endParaRPr lang="ru-RU" dirty="0"/>
          </a:p>
        </p:txBody>
      </p:sp>
    </p:spTree>
    <p:extLst>
      <p:ext uri="{BB962C8B-B14F-4D97-AF65-F5344CB8AC3E}">
        <p14:creationId xmlns:p14="http://schemas.microsoft.com/office/powerpoint/2010/main" val="39291927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623242" y="173680"/>
            <a:ext cx="301686" cy="369332"/>
          </a:xfrm>
          <a:prstGeom prst="rect">
            <a:avLst/>
          </a:prstGeom>
          <a:noFill/>
        </p:spPr>
        <p:txBody>
          <a:bodyPr wrap="none" rtlCol="0">
            <a:spAutoFit/>
          </a:bodyPr>
          <a:lstStyle/>
          <a:p>
            <a:pPr algn="ctr"/>
            <a:r>
              <a:rPr lang="en-US" dirty="0"/>
              <a:t>4</a:t>
            </a:r>
            <a:endParaRPr lang="ru-RU" dirty="0"/>
          </a:p>
        </p:txBody>
      </p:sp>
      <p:sp>
        <p:nvSpPr>
          <p:cNvPr id="8" name="TextBox 7"/>
          <p:cNvSpPr txBox="1"/>
          <p:nvPr/>
        </p:nvSpPr>
        <p:spPr>
          <a:xfrm>
            <a:off x="5685514" y="163860"/>
            <a:ext cx="705642" cy="369332"/>
          </a:xfrm>
          <a:prstGeom prst="rect">
            <a:avLst/>
          </a:prstGeom>
          <a:noFill/>
        </p:spPr>
        <p:txBody>
          <a:bodyPr wrap="none" rtlCol="0">
            <a:spAutoFit/>
          </a:bodyPr>
          <a:lstStyle/>
          <a:p>
            <a:pPr algn="ctr"/>
            <a:r>
              <a:rPr lang="en-US" dirty="0" smtClean="0"/>
              <a:t>AAIM</a:t>
            </a:r>
            <a:endParaRPr lang="ru-RU" dirty="0"/>
          </a:p>
        </p:txBody>
      </p:sp>
      <p:sp>
        <p:nvSpPr>
          <p:cNvPr id="4" name="Прямоугольник 3"/>
          <p:cNvSpPr/>
          <p:nvPr/>
        </p:nvSpPr>
        <p:spPr>
          <a:xfrm>
            <a:off x="553178" y="1201843"/>
            <a:ext cx="11220907" cy="4801314"/>
          </a:xfrm>
          <a:prstGeom prst="rect">
            <a:avLst/>
          </a:prstGeom>
        </p:spPr>
        <p:txBody>
          <a:bodyPr wrap="square">
            <a:spAutoFit/>
          </a:bodyPr>
          <a:lstStyle/>
          <a:p>
            <a:r>
              <a:rPr lang="ru-RU" dirty="0">
                <a:solidFill>
                  <a:srgbClr val="0F1115"/>
                </a:solidFill>
                <a:latin typeface="quote-cjk-patch"/>
              </a:rPr>
              <a:t>Непрерывность — это вероятность того, что система будет работать в пределах установленных параметров точности в течение предполагаемого периода эксплуатации. Более конкретно, непрерывность — это вероятность того, что заданная производительность системы будет поддерживаться на протяжении всей фазы операции, при условии, что система была доступна в начале этой операции и, как предполагается, будет работать в течение всей операции</a:t>
            </a:r>
            <a:r>
              <a:rPr lang="ru-RU" dirty="0" smtClean="0">
                <a:solidFill>
                  <a:srgbClr val="0F1115"/>
                </a:solidFill>
                <a:latin typeface="quote-cjk-patch"/>
              </a:rPr>
              <a:t>.</a:t>
            </a:r>
            <a:endParaRPr lang="ru-RU" dirty="0">
              <a:solidFill>
                <a:srgbClr val="0F1115"/>
              </a:solidFill>
              <a:latin typeface="quote-cjk-patch"/>
            </a:endParaRPr>
          </a:p>
          <a:p>
            <a:endParaRPr lang="en-US" dirty="0" smtClean="0">
              <a:solidFill>
                <a:srgbClr val="0F1115"/>
              </a:solidFill>
              <a:latin typeface="quote-cjk-patch"/>
            </a:endParaRPr>
          </a:p>
          <a:p>
            <a:r>
              <a:rPr lang="ru-RU" dirty="0" smtClean="0">
                <a:solidFill>
                  <a:srgbClr val="0F1115"/>
                </a:solidFill>
                <a:latin typeface="quote-cjk-patch"/>
              </a:rPr>
              <a:t>Доступность </a:t>
            </a:r>
            <a:r>
              <a:rPr lang="ru-RU" dirty="0">
                <a:solidFill>
                  <a:srgbClr val="0F1115"/>
                </a:solidFill>
                <a:latin typeface="quote-cjk-patch"/>
              </a:rPr>
              <a:t>— это процент времени, в течение которого система удовлетворяет всем требованиям точности, целостности и непрерывности в момент начала предполагаемой </a:t>
            </a:r>
            <a:r>
              <a:rPr lang="ru-RU" dirty="0" smtClean="0">
                <a:solidFill>
                  <a:srgbClr val="0F1115"/>
                </a:solidFill>
                <a:latin typeface="quote-cjk-patch"/>
              </a:rPr>
              <a:t>операции. </a:t>
            </a:r>
            <a:r>
              <a:rPr lang="ru-RU" dirty="0">
                <a:solidFill>
                  <a:srgbClr val="0F1115"/>
                </a:solidFill>
                <a:latin typeface="quote-cjk-patch"/>
              </a:rPr>
              <a:t>Доступность является мерой того, насколько система пригодна к использованию, когда другие требования безопасности выполнены</a:t>
            </a:r>
            <a:r>
              <a:rPr lang="ru-RU" dirty="0" smtClean="0">
                <a:solidFill>
                  <a:srgbClr val="0F1115"/>
                </a:solidFill>
                <a:latin typeface="quote-cjk-patch"/>
              </a:rPr>
              <a:t>.</a:t>
            </a:r>
            <a:endParaRPr lang="en-US" dirty="0" smtClean="0">
              <a:solidFill>
                <a:srgbClr val="0F1115"/>
              </a:solidFill>
              <a:latin typeface="quote-cjk-patch"/>
            </a:endParaRPr>
          </a:p>
          <a:p>
            <a:endParaRPr lang="ru-RU" dirty="0">
              <a:solidFill>
                <a:srgbClr val="0F1115"/>
              </a:solidFill>
              <a:latin typeface="quote-cjk-patch"/>
            </a:endParaRPr>
          </a:p>
          <a:p>
            <a:r>
              <a:rPr lang="ru-RU" dirty="0">
                <a:solidFill>
                  <a:srgbClr val="0F1115"/>
                </a:solidFill>
                <a:latin typeface="quote-cjk-patch"/>
              </a:rPr>
              <a:t>При проектировании навигационных систем существует баланс (компромисс) между этими четырьмя требованиями. Если все остальные параметры остаются неизменными, а точность улучшается, то целостность, а также непрерывность и доступность улучшатся. Если целостность улучшается (т.е. становится безопаснее), а точность остается прежней, то непрерывность и доступность снизятся. Если непрерывность/доступность повышаются, а точность остается прежней, то целостность снизится (т.е. станет менее безопасной).</a:t>
            </a:r>
            <a:endParaRPr lang="ru-RU" b="0" i="0" dirty="0">
              <a:solidFill>
                <a:srgbClr val="0F1115"/>
              </a:solidFill>
              <a:effectLst/>
              <a:latin typeface="quote-cjk-patch"/>
            </a:endParaRPr>
          </a:p>
        </p:txBody>
      </p:sp>
    </p:spTree>
    <p:extLst>
      <p:ext uri="{BB962C8B-B14F-4D97-AF65-F5344CB8AC3E}">
        <p14:creationId xmlns:p14="http://schemas.microsoft.com/office/powerpoint/2010/main" val="4134832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ChangeArrowheads="1"/>
          </p:cNvSpPr>
          <p:nvPr/>
        </p:nvSpPr>
        <p:spPr bwMode="auto">
          <a:xfrm>
            <a:off x="4819135" y="23230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13" name="Овал 12"/>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p:cNvSpPr txBox="1"/>
          <p:nvPr/>
        </p:nvSpPr>
        <p:spPr>
          <a:xfrm>
            <a:off x="11623242" y="173680"/>
            <a:ext cx="301686" cy="369332"/>
          </a:xfrm>
          <a:prstGeom prst="rect">
            <a:avLst/>
          </a:prstGeom>
          <a:noFill/>
        </p:spPr>
        <p:txBody>
          <a:bodyPr wrap="none" rtlCol="0">
            <a:spAutoFit/>
          </a:bodyPr>
          <a:lstStyle/>
          <a:p>
            <a:pPr algn="ctr"/>
            <a:r>
              <a:rPr lang="en-US" dirty="0"/>
              <a:t>5</a:t>
            </a:r>
            <a:endParaRPr lang="ru-RU" dirty="0"/>
          </a:p>
        </p:txBody>
      </p:sp>
      <p:sp>
        <p:nvSpPr>
          <p:cNvPr id="7" name="TextBox 6"/>
          <p:cNvSpPr txBox="1"/>
          <p:nvPr/>
        </p:nvSpPr>
        <p:spPr>
          <a:xfrm>
            <a:off x="5685515" y="163860"/>
            <a:ext cx="705642" cy="369332"/>
          </a:xfrm>
          <a:prstGeom prst="rect">
            <a:avLst/>
          </a:prstGeom>
          <a:noFill/>
        </p:spPr>
        <p:txBody>
          <a:bodyPr wrap="none" rtlCol="0">
            <a:spAutoFit/>
          </a:bodyPr>
          <a:lstStyle/>
          <a:p>
            <a:pPr algn="ctr"/>
            <a:r>
              <a:rPr lang="en-US" dirty="0" smtClean="0"/>
              <a:t>AAIM</a:t>
            </a:r>
            <a:endParaRPr lang="ru-RU" dirty="0"/>
          </a:p>
        </p:txBody>
      </p:sp>
      <p:sp>
        <p:nvSpPr>
          <p:cNvPr id="2" name="Прямоугольник 1"/>
          <p:cNvSpPr/>
          <p:nvPr/>
        </p:nvSpPr>
        <p:spPr>
          <a:xfrm>
            <a:off x="527222" y="474345"/>
            <a:ext cx="11397706" cy="3139321"/>
          </a:xfrm>
          <a:prstGeom prst="rect">
            <a:avLst/>
          </a:prstGeom>
        </p:spPr>
        <p:txBody>
          <a:bodyPr wrap="square">
            <a:spAutoFit/>
          </a:bodyPr>
          <a:lstStyle/>
          <a:p>
            <a:r>
              <a:rPr lang="en-US" dirty="0" smtClean="0">
                <a:solidFill>
                  <a:srgbClr val="0F1115"/>
                </a:solidFill>
                <a:latin typeface="quote-cjk-patch"/>
              </a:rPr>
              <a:t>	</a:t>
            </a:r>
            <a:r>
              <a:rPr lang="ru-RU" dirty="0" smtClean="0">
                <a:solidFill>
                  <a:srgbClr val="0F1115"/>
                </a:solidFill>
                <a:latin typeface="quote-cjk-patch"/>
              </a:rPr>
              <a:t>Этапы </a:t>
            </a:r>
            <a:r>
              <a:rPr lang="ru-RU" dirty="0">
                <a:solidFill>
                  <a:srgbClr val="0F1115"/>
                </a:solidFill>
                <a:latin typeface="quote-cjk-patch"/>
              </a:rPr>
              <a:t>полёта в авиации имеют различные факторы риска для безопасности. Например, воздушное судно, совершающее трансатлантический перелёт, должно беспокоиться лишь о навигации в общий район пункта назначения, а также об </a:t>
            </a:r>
            <a:r>
              <a:rPr lang="ru-RU" dirty="0" err="1">
                <a:solidFill>
                  <a:srgbClr val="0F1115"/>
                </a:solidFill>
                <a:latin typeface="quote-cjk-patch"/>
              </a:rPr>
              <a:t>избежании</a:t>
            </a:r>
            <a:r>
              <a:rPr lang="ru-RU" dirty="0">
                <a:solidFill>
                  <a:srgbClr val="0F1115"/>
                </a:solidFill>
                <a:latin typeface="quote-cjk-patch"/>
              </a:rPr>
              <a:t> разреженного движения. В результате требования к безопасности на океанских этапах довольно мягкие. При категории III прецизионной посадки, которая включает выравнивание воздушного судна и его направление по взлётно-посадочной полосе, небольшие навигационные ошибки создают высокий риск опасного маневрирования; следовательно, требования к точности и целостности являются очень жёсткими. После того как прецизионный заход на посадку начат, значительно возрастает рабочая нагрузка на пилота, если возникает необходимость прервать его из-за отказа навигационной системы, поэтому требования к непрерывности также являются жёсткими. На Рисунке 2 показан спектр требований к навигационным системам от океанского этапа до прецизионного захода на посадку.</a:t>
            </a:r>
            <a:endParaRPr lang="ru-RU" dirty="0"/>
          </a:p>
        </p:txBody>
      </p:sp>
      <p:sp>
        <p:nvSpPr>
          <p:cNvPr id="4" name="Прямоугольник 3"/>
          <p:cNvSpPr/>
          <p:nvPr/>
        </p:nvSpPr>
        <p:spPr>
          <a:xfrm>
            <a:off x="527222" y="3613666"/>
            <a:ext cx="11071654" cy="3139321"/>
          </a:xfrm>
          <a:prstGeom prst="rect">
            <a:avLst/>
          </a:prstGeom>
        </p:spPr>
        <p:txBody>
          <a:bodyPr wrap="square">
            <a:spAutoFit/>
          </a:bodyPr>
          <a:lstStyle/>
          <a:p>
            <a:r>
              <a:rPr lang="en-US" dirty="0" smtClean="0">
                <a:solidFill>
                  <a:srgbClr val="0F1115"/>
                </a:solidFill>
                <a:latin typeface="quote-cjk-patch"/>
              </a:rPr>
              <a:t>	</a:t>
            </a:r>
            <a:r>
              <a:rPr lang="ru-RU" dirty="0" smtClean="0">
                <a:solidFill>
                  <a:srgbClr val="0F1115"/>
                </a:solidFill>
                <a:latin typeface="quote-cjk-patch"/>
              </a:rPr>
              <a:t>Исторически </a:t>
            </a:r>
            <a:r>
              <a:rPr lang="ru-RU" dirty="0">
                <a:solidFill>
                  <a:srgbClr val="0F1115"/>
                </a:solidFill>
                <a:latin typeface="quote-cjk-patch"/>
              </a:rPr>
              <a:t>операции основывались на конкретной навигационной системе. Это могли быть VOR, DME, GPS или ILS. Бортовое оборудование для этих операций сертифицировалось в соответствии с общим минимальным эксплуатационным стандартом, разработанным промышленностью </a:t>
            </a:r>
            <a:r>
              <a:rPr lang="ru-RU" dirty="0" smtClean="0">
                <a:solidFill>
                  <a:srgbClr val="0F1115"/>
                </a:solidFill>
                <a:latin typeface="quote-cjk-patch"/>
              </a:rPr>
              <a:t>и </a:t>
            </a:r>
            <a:r>
              <a:rPr lang="ru-RU" dirty="0">
                <a:solidFill>
                  <a:srgbClr val="0F1115"/>
                </a:solidFill>
                <a:latin typeface="quote-cjk-patch"/>
              </a:rPr>
              <a:t>введённым в действие регулирующими органами. Однако в последнее время произошёл переход к разработке системных требований для захода на посадку и разрешению разработки различных решений для соответствия этим требованиям. Этот более современный тип операций называется операциями с требуемыми навигационными характеристиками (RNP).</a:t>
            </a:r>
          </a:p>
          <a:p>
            <a:r>
              <a:rPr lang="ru-RU" dirty="0">
                <a:solidFill>
                  <a:srgbClr val="0F1115"/>
                </a:solidFill>
                <a:latin typeface="quote-cjk-patch"/>
              </a:rPr>
              <a:t>Концепция требуемых навигационных характеристик (RNP) позволяет воздушным судам выполнять полёты в определённом воздушном пространстве, основываясь на доступных навигационных характеристиках своего оборудования. Навигационные характеристики определяются с точки зрения точности, целостности, доступности и непрерывности системы.</a:t>
            </a:r>
            <a:endParaRPr lang="ru-RU" b="0" i="0" dirty="0">
              <a:solidFill>
                <a:srgbClr val="0F1115"/>
              </a:solidFill>
              <a:effectLst/>
              <a:latin typeface="quote-cjk-patch"/>
            </a:endParaRPr>
          </a:p>
        </p:txBody>
      </p:sp>
    </p:spTree>
    <p:extLst>
      <p:ext uri="{BB962C8B-B14F-4D97-AF65-F5344CB8AC3E}">
        <p14:creationId xmlns:p14="http://schemas.microsoft.com/office/powerpoint/2010/main" val="39548367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623242" y="173680"/>
            <a:ext cx="301686" cy="369332"/>
          </a:xfrm>
          <a:prstGeom prst="rect">
            <a:avLst/>
          </a:prstGeom>
          <a:noFill/>
        </p:spPr>
        <p:txBody>
          <a:bodyPr wrap="none" rtlCol="0">
            <a:spAutoFit/>
          </a:bodyPr>
          <a:lstStyle/>
          <a:p>
            <a:pPr algn="ctr"/>
            <a:r>
              <a:rPr lang="en-US" dirty="0" smtClean="0"/>
              <a:t>6</a:t>
            </a:r>
            <a:endParaRPr lang="ru-RU" dirty="0"/>
          </a:p>
        </p:txBody>
      </p:sp>
      <p:sp>
        <p:nvSpPr>
          <p:cNvPr id="9" name="TextBox 8"/>
          <p:cNvSpPr txBox="1"/>
          <p:nvPr/>
        </p:nvSpPr>
        <p:spPr>
          <a:xfrm>
            <a:off x="5685514" y="163860"/>
            <a:ext cx="705642" cy="369332"/>
          </a:xfrm>
          <a:prstGeom prst="rect">
            <a:avLst/>
          </a:prstGeom>
          <a:noFill/>
        </p:spPr>
        <p:txBody>
          <a:bodyPr wrap="none" rtlCol="0">
            <a:spAutoFit/>
          </a:bodyPr>
          <a:lstStyle/>
          <a:p>
            <a:pPr algn="ctr"/>
            <a:r>
              <a:rPr lang="en-US" dirty="0" smtClean="0"/>
              <a:t>AAIM</a:t>
            </a:r>
            <a:endParaRPr lang="ru-RU" dirty="0"/>
          </a:p>
        </p:txBody>
      </p:sp>
      <p:pic>
        <p:nvPicPr>
          <p:cNvPr id="3" name="Рисунок 2"/>
          <p:cNvPicPr>
            <a:picLocks noChangeAspect="1"/>
          </p:cNvPicPr>
          <p:nvPr/>
        </p:nvPicPr>
        <p:blipFill>
          <a:blip r:embed="rId2"/>
          <a:stretch>
            <a:fillRect/>
          </a:stretch>
        </p:blipFill>
        <p:spPr>
          <a:xfrm>
            <a:off x="2644848" y="474448"/>
            <a:ext cx="8497094" cy="2622979"/>
          </a:xfrm>
          <a:prstGeom prst="rect">
            <a:avLst/>
          </a:prstGeom>
        </p:spPr>
      </p:pic>
      <p:pic>
        <p:nvPicPr>
          <p:cNvPr id="4" name="Рисунок 3"/>
          <p:cNvPicPr>
            <a:picLocks noChangeAspect="1"/>
          </p:cNvPicPr>
          <p:nvPr/>
        </p:nvPicPr>
        <p:blipFill>
          <a:blip r:embed="rId3"/>
          <a:stretch>
            <a:fillRect/>
          </a:stretch>
        </p:blipFill>
        <p:spPr>
          <a:xfrm>
            <a:off x="666761" y="3185982"/>
            <a:ext cx="10582275" cy="3581400"/>
          </a:xfrm>
          <a:prstGeom prst="rect">
            <a:avLst/>
          </a:prstGeom>
        </p:spPr>
      </p:pic>
    </p:spTree>
    <p:extLst>
      <p:ext uri="{BB962C8B-B14F-4D97-AF65-F5344CB8AC3E}">
        <p14:creationId xmlns:p14="http://schemas.microsoft.com/office/powerpoint/2010/main" val="26356223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623242" y="173680"/>
            <a:ext cx="301686" cy="369332"/>
          </a:xfrm>
          <a:prstGeom prst="rect">
            <a:avLst/>
          </a:prstGeom>
          <a:noFill/>
        </p:spPr>
        <p:txBody>
          <a:bodyPr wrap="none" rtlCol="0">
            <a:spAutoFit/>
          </a:bodyPr>
          <a:lstStyle/>
          <a:p>
            <a:pPr algn="ctr"/>
            <a:r>
              <a:rPr lang="ru-RU" dirty="0" smtClean="0"/>
              <a:t>7</a:t>
            </a:r>
            <a:endParaRPr lang="ru-RU" dirty="0"/>
          </a:p>
        </p:txBody>
      </p:sp>
      <p:sp>
        <p:nvSpPr>
          <p:cNvPr id="9" name="TextBox 8"/>
          <p:cNvSpPr txBox="1"/>
          <p:nvPr/>
        </p:nvSpPr>
        <p:spPr>
          <a:xfrm>
            <a:off x="5685514" y="163860"/>
            <a:ext cx="705642" cy="369332"/>
          </a:xfrm>
          <a:prstGeom prst="rect">
            <a:avLst/>
          </a:prstGeom>
          <a:noFill/>
        </p:spPr>
        <p:txBody>
          <a:bodyPr wrap="none" rtlCol="0">
            <a:spAutoFit/>
          </a:bodyPr>
          <a:lstStyle/>
          <a:p>
            <a:pPr algn="ctr"/>
            <a:r>
              <a:rPr lang="en-US" dirty="0" smtClean="0"/>
              <a:t>AAIM</a:t>
            </a:r>
            <a:endParaRPr lang="ru-RU" dirty="0"/>
          </a:p>
        </p:txBody>
      </p:sp>
      <p:sp>
        <p:nvSpPr>
          <p:cNvPr id="2" name="Прямоугольник 1"/>
          <p:cNvSpPr/>
          <p:nvPr/>
        </p:nvSpPr>
        <p:spPr>
          <a:xfrm>
            <a:off x="869403" y="543012"/>
            <a:ext cx="10610335" cy="3416320"/>
          </a:xfrm>
          <a:prstGeom prst="rect">
            <a:avLst/>
          </a:prstGeom>
        </p:spPr>
        <p:txBody>
          <a:bodyPr wrap="square">
            <a:spAutoFit/>
          </a:bodyPr>
          <a:lstStyle/>
          <a:p>
            <a:r>
              <a:rPr lang="en-US" dirty="0" smtClean="0">
                <a:solidFill>
                  <a:srgbClr val="0F1115"/>
                </a:solidFill>
                <a:latin typeface="quote-cjk-patch"/>
              </a:rPr>
              <a:t>	</a:t>
            </a:r>
            <a:r>
              <a:rPr lang="ru-RU" dirty="0" smtClean="0">
                <a:solidFill>
                  <a:srgbClr val="0F1115"/>
                </a:solidFill>
                <a:latin typeface="quote-cjk-patch"/>
              </a:rPr>
              <a:t>«</a:t>
            </a:r>
            <a:r>
              <a:rPr lang="ru-RU" dirty="0">
                <a:solidFill>
                  <a:srgbClr val="0F1115"/>
                </a:solidFill>
                <a:latin typeface="quote-cjk-patch"/>
              </a:rPr>
              <a:t>Навигационные характеристики» для операций </a:t>
            </a:r>
            <a:r>
              <a:rPr lang="ru-RU" dirty="0" smtClean="0">
                <a:solidFill>
                  <a:srgbClr val="0F1115"/>
                </a:solidFill>
                <a:latin typeface="quote-cjk-patch"/>
              </a:rPr>
              <a:t>RNP</a:t>
            </a:r>
            <a:r>
              <a:rPr lang="en-US" dirty="0" smtClean="0">
                <a:solidFill>
                  <a:srgbClr val="0F1115"/>
                </a:solidFill>
                <a:latin typeface="quote-cjk-patch"/>
              </a:rPr>
              <a:t> </a:t>
            </a:r>
            <a:r>
              <a:rPr lang="ru-RU" dirty="0" smtClean="0">
                <a:solidFill>
                  <a:srgbClr val="0F1115"/>
                </a:solidFill>
                <a:latin typeface="quote-cjk-patch"/>
              </a:rPr>
              <a:t>раскладываются)на </a:t>
            </a:r>
            <a:r>
              <a:rPr lang="ru-RU" dirty="0">
                <a:solidFill>
                  <a:srgbClr val="0F1115"/>
                </a:solidFill>
                <a:latin typeface="quote-cjk-patch"/>
              </a:rPr>
              <a:t>три компонента ошибки. Ошибка навигационной системы (NSE) — это ошибка от истинного положения до расчётного положения. Эта ошибка является функцией навигационной системы и качества датчиков. Техническая ошибка пилотирования (FTE) — это разница между положением, определённым навигационной системой, и заданным положением. FTE является функцией системы управления транспортным средством. Также существует компонент ошибки определения траектории (PDE) между положением, заданным в операции, и желаемым положением. Эта ошибка является ошибкой изысканий или ошибкой проектирования операции. На Рисунке 3 проиллюстрированы эти компоненты. Общая системная ошибка (TSE) представляет собой сумму NSE и FTE и представляет собой полную ошибку от заданной траектории. Операции RNP определяются в терминах TSE, поэтому NSE и FTE могут быть сбалансированы (компенсированы).</a:t>
            </a:r>
            <a:endParaRPr lang="ru-RU" dirty="0"/>
          </a:p>
        </p:txBody>
      </p:sp>
      <p:pic>
        <p:nvPicPr>
          <p:cNvPr id="8" name="Рисунок 7"/>
          <p:cNvPicPr>
            <a:picLocks noChangeAspect="1"/>
          </p:cNvPicPr>
          <p:nvPr/>
        </p:nvPicPr>
        <p:blipFill>
          <a:blip r:embed="rId2"/>
          <a:stretch>
            <a:fillRect/>
          </a:stretch>
        </p:blipFill>
        <p:spPr>
          <a:xfrm>
            <a:off x="5512225" y="3660045"/>
            <a:ext cx="3519460" cy="3078507"/>
          </a:xfrm>
          <a:prstGeom prst="rect">
            <a:avLst/>
          </a:prstGeom>
        </p:spPr>
      </p:pic>
    </p:spTree>
    <p:extLst>
      <p:ext uri="{BB962C8B-B14F-4D97-AF65-F5344CB8AC3E}">
        <p14:creationId xmlns:p14="http://schemas.microsoft.com/office/powerpoint/2010/main" val="13009079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623242" y="173680"/>
            <a:ext cx="301686" cy="369332"/>
          </a:xfrm>
          <a:prstGeom prst="rect">
            <a:avLst/>
          </a:prstGeom>
          <a:noFill/>
        </p:spPr>
        <p:txBody>
          <a:bodyPr wrap="none" rtlCol="0">
            <a:spAutoFit/>
          </a:bodyPr>
          <a:lstStyle/>
          <a:p>
            <a:pPr algn="ctr"/>
            <a:r>
              <a:rPr lang="en-US" dirty="0" smtClean="0"/>
              <a:t>8</a:t>
            </a:r>
            <a:endParaRPr lang="ru-RU" dirty="0"/>
          </a:p>
        </p:txBody>
      </p:sp>
      <p:sp>
        <p:nvSpPr>
          <p:cNvPr id="9" name="TextBox 8"/>
          <p:cNvSpPr txBox="1"/>
          <p:nvPr/>
        </p:nvSpPr>
        <p:spPr>
          <a:xfrm>
            <a:off x="5685515" y="163860"/>
            <a:ext cx="705642" cy="369332"/>
          </a:xfrm>
          <a:prstGeom prst="rect">
            <a:avLst/>
          </a:prstGeom>
          <a:noFill/>
        </p:spPr>
        <p:txBody>
          <a:bodyPr wrap="none" rtlCol="0">
            <a:spAutoFit/>
          </a:bodyPr>
          <a:lstStyle/>
          <a:p>
            <a:pPr algn="ctr"/>
            <a:r>
              <a:rPr lang="en-US" dirty="0" smtClean="0"/>
              <a:t>AAIM</a:t>
            </a:r>
            <a:endParaRPr lang="ru-RU" dirty="0"/>
          </a:p>
        </p:txBody>
      </p:sp>
      <p:sp>
        <p:nvSpPr>
          <p:cNvPr id="3" name="Прямоугольник 2"/>
          <p:cNvSpPr/>
          <p:nvPr/>
        </p:nvSpPr>
        <p:spPr>
          <a:xfrm>
            <a:off x="181233" y="968591"/>
            <a:ext cx="12010767" cy="3416320"/>
          </a:xfrm>
          <a:prstGeom prst="rect">
            <a:avLst/>
          </a:prstGeom>
        </p:spPr>
        <p:txBody>
          <a:bodyPr wrap="square">
            <a:spAutoFit/>
          </a:bodyPr>
          <a:lstStyle/>
          <a:p>
            <a:r>
              <a:rPr lang="ru-RU" dirty="0">
                <a:solidFill>
                  <a:srgbClr val="0F1115"/>
                </a:solidFill>
                <a:latin typeface="quote-cjk-patch"/>
              </a:rPr>
              <a:t>Бортовое оборудование, которое является частью интегрированной навигационной системы, предоставляющей данные о позиционировании для поддержки операций RNP, передаёт параметры, которые статистически ограничивают ошибку определения положения. Эти выходные данные включают, как минимум, горизонтальную фигуру добротности (HFOM), горизонтальный уровень целостности (HIL) и предупреждение об обнаружении.</a:t>
            </a:r>
          </a:p>
          <a:p>
            <a:r>
              <a:rPr lang="ru-RU" dirty="0">
                <a:solidFill>
                  <a:srgbClr val="0F1115"/>
                </a:solidFill>
                <a:latin typeface="quote-cjk-patch"/>
              </a:rPr>
              <a:t>HFOM — это 95%-</a:t>
            </a:r>
            <a:r>
              <a:rPr lang="ru-RU" dirty="0" err="1">
                <a:solidFill>
                  <a:srgbClr val="0F1115"/>
                </a:solidFill>
                <a:latin typeface="quote-cjk-patch"/>
              </a:rPr>
              <a:t>ная</a:t>
            </a:r>
            <a:r>
              <a:rPr lang="ru-RU" dirty="0">
                <a:solidFill>
                  <a:srgbClr val="0F1115"/>
                </a:solidFill>
                <a:latin typeface="quote-cjk-patch"/>
              </a:rPr>
              <a:t> оценка ошибок определения положения в горизонтальной плоскости в предположении отсутствия отказов целостности спутников GPS, и используется для количественной оценки точности.</a:t>
            </a:r>
          </a:p>
          <a:p>
            <a:r>
              <a:rPr lang="ru-RU" dirty="0">
                <a:solidFill>
                  <a:srgbClr val="0F1115"/>
                </a:solidFill>
                <a:latin typeface="quote-cjk-patch"/>
              </a:rPr>
              <a:t>HIL обеспечивает горизонтальную область защиты при требуемой целостности при наличии необнаруженного отказа. HIL основан на моделях ошибок с использованием геометрии спутников и данных траектории транспортного средства и не зависит от входных измерительных данных.</a:t>
            </a:r>
          </a:p>
          <a:p>
            <a:r>
              <a:rPr lang="ru-RU" dirty="0">
                <a:solidFill>
                  <a:srgbClr val="0F1115"/>
                </a:solidFill>
                <a:latin typeface="quote-cjk-patch"/>
              </a:rPr>
              <a:t>Предупреждение об обнаружении выдается один раз, когда система оценивает, что присутствует отказывающий спутник. </a:t>
            </a:r>
            <a:endParaRPr lang="ru-RU" b="0" i="0" dirty="0">
              <a:solidFill>
                <a:srgbClr val="0F1115"/>
              </a:solidFill>
              <a:effectLst/>
              <a:latin typeface="quote-cjk-patch"/>
            </a:endParaRPr>
          </a:p>
        </p:txBody>
      </p:sp>
    </p:spTree>
    <p:extLst>
      <p:ext uri="{BB962C8B-B14F-4D97-AF65-F5344CB8AC3E}">
        <p14:creationId xmlns:p14="http://schemas.microsoft.com/office/powerpoint/2010/main" val="8714929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623242" y="173680"/>
            <a:ext cx="301686" cy="369332"/>
          </a:xfrm>
          <a:prstGeom prst="rect">
            <a:avLst/>
          </a:prstGeom>
          <a:noFill/>
        </p:spPr>
        <p:txBody>
          <a:bodyPr wrap="none" rtlCol="0">
            <a:spAutoFit/>
          </a:bodyPr>
          <a:lstStyle/>
          <a:p>
            <a:pPr algn="ctr"/>
            <a:r>
              <a:rPr lang="en-US" dirty="0"/>
              <a:t>9</a:t>
            </a:r>
            <a:endParaRPr lang="ru-RU" dirty="0"/>
          </a:p>
        </p:txBody>
      </p:sp>
      <p:sp>
        <p:nvSpPr>
          <p:cNvPr id="9" name="TextBox 8"/>
          <p:cNvSpPr txBox="1"/>
          <p:nvPr/>
        </p:nvSpPr>
        <p:spPr>
          <a:xfrm>
            <a:off x="5685514" y="163860"/>
            <a:ext cx="705642" cy="369332"/>
          </a:xfrm>
          <a:prstGeom prst="rect">
            <a:avLst/>
          </a:prstGeom>
          <a:noFill/>
        </p:spPr>
        <p:txBody>
          <a:bodyPr wrap="none" rtlCol="0">
            <a:spAutoFit/>
          </a:bodyPr>
          <a:lstStyle/>
          <a:p>
            <a:pPr algn="ctr"/>
            <a:r>
              <a:rPr lang="en-US" dirty="0" smtClean="0"/>
              <a:t>AAIM</a:t>
            </a:r>
            <a:endParaRPr lang="ru-RU" dirty="0"/>
          </a:p>
        </p:txBody>
      </p:sp>
      <p:sp>
        <p:nvSpPr>
          <p:cNvPr id="2" name="Прямоугольник 1"/>
          <p:cNvSpPr/>
          <p:nvPr/>
        </p:nvSpPr>
        <p:spPr>
          <a:xfrm>
            <a:off x="366898" y="667265"/>
            <a:ext cx="11112843" cy="4524315"/>
          </a:xfrm>
          <a:prstGeom prst="rect">
            <a:avLst/>
          </a:prstGeom>
        </p:spPr>
        <p:txBody>
          <a:bodyPr wrap="square">
            <a:spAutoFit/>
          </a:bodyPr>
          <a:lstStyle/>
          <a:p>
            <a:r>
              <a:rPr lang="en-US" dirty="0" smtClean="0">
                <a:solidFill>
                  <a:srgbClr val="0F1115"/>
                </a:solidFill>
                <a:latin typeface="quote-cjk-patch"/>
              </a:rPr>
              <a:t>	</a:t>
            </a:r>
            <a:r>
              <a:rPr lang="ru-RU" dirty="0" smtClean="0">
                <a:solidFill>
                  <a:srgbClr val="0F1115"/>
                </a:solidFill>
                <a:latin typeface="quote-cjk-patch"/>
              </a:rPr>
              <a:t>Пропущенное </a:t>
            </a:r>
            <a:r>
              <a:rPr lang="ru-RU" dirty="0">
                <a:solidFill>
                  <a:srgbClr val="0F1115"/>
                </a:solidFill>
                <a:latin typeface="quote-cjk-patch"/>
              </a:rPr>
              <a:t>предупреждение определяется как случай, когда фактическая ошибка определения положения превышает HIL в течение времени, превышающего время до предупреждения. Пропущенное предупреждение отрицательно влияет на целостность. Ложное предупреждение определяется как предупреждение об обнаружении, которое выдается, когда состояние отказа отсутствует. Ложное предупреждение отрицательно влияет на непрерывность. После того как ошибка обнаружена, система пытается изолировать отказ, а затем исключить его из решения. Непрерывность повышается, когда система может обнаруживать и исключать спутниковые ошибки до того, как они помешают предполагаемой операции.</a:t>
            </a:r>
          </a:p>
          <a:p>
            <a:r>
              <a:rPr lang="en-US" dirty="0" smtClean="0">
                <a:solidFill>
                  <a:srgbClr val="0F1115"/>
                </a:solidFill>
                <a:latin typeface="quote-cjk-patch"/>
              </a:rPr>
              <a:t>	</a:t>
            </a:r>
            <a:r>
              <a:rPr lang="ru-RU" dirty="0" smtClean="0">
                <a:solidFill>
                  <a:srgbClr val="0F1115"/>
                </a:solidFill>
                <a:latin typeface="quote-cjk-patch"/>
              </a:rPr>
              <a:t>Навигационное </a:t>
            </a:r>
            <a:r>
              <a:rPr lang="ru-RU" dirty="0">
                <a:solidFill>
                  <a:srgbClr val="0F1115"/>
                </a:solidFill>
                <a:latin typeface="quote-cjk-patch"/>
              </a:rPr>
              <a:t>оборудование может использовать эти сигналы, чтобы решить, позволяет ли ошибка навигационной системы поддерживать данный этап полета или уровень производительности RNP. Например, HIL можно сравнить с конкретным горизонтальным пределом тревоги (HAL), определенным как уровень удержания (контроля) для данной эксплуатационной процедуры. Следовательно, улучшенная производительность, которая снижает HIL, обеспечит дополнительную доступность для этого уровня HAL. Взаимосвязь между значением RNP и HAL зависит от уникальных эксплуатационных характеристик каждой модели самолета, поскольку она должна учитывать техническую ошибку пилотирования (FTE).</a:t>
            </a:r>
            <a:endParaRPr lang="ru-RU" dirty="0">
              <a:solidFill>
                <a:srgbClr val="0F1115"/>
              </a:solidFill>
              <a:latin typeface="quote-cjk-patch"/>
            </a:endParaRPr>
          </a:p>
        </p:txBody>
      </p:sp>
    </p:spTree>
    <p:extLst>
      <p:ext uri="{BB962C8B-B14F-4D97-AF65-F5344CB8AC3E}">
        <p14:creationId xmlns:p14="http://schemas.microsoft.com/office/powerpoint/2010/main" val="17058738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10</a:t>
            </a:r>
            <a:endParaRPr lang="ru-RU" dirty="0"/>
          </a:p>
        </p:txBody>
      </p:sp>
      <p:sp>
        <p:nvSpPr>
          <p:cNvPr id="9" name="TextBox 8"/>
          <p:cNvSpPr txBox="1"/>
          <p:nvPr/>
        </p:nvSpPr>
        <p:spPr>
          <a:xfrm>
            <a:off x="5685514" y="163860"/>
            <a:ext cx="705642" cy="369332"/>
          </a:xfrm>
          <a:prstGeom prst="rect">
            <a:avLst/>
          </a:prstGeom>
          <a:noFill/>
        </p:spPr>
        <p:txBody>
          <a:bodyPr wrap="none" rtlCol="0">
            <a:spAutoFit/>
          </a:bodyPr>
          <a:lstStyle/>
          <a:p>
            <a:pPr algn="ctr"/>
            <a:r>
              <a:rPr lang="en-US" dirty="0" smtClean="0"/>
              <a:t>AAIM</a:t>
            </a:r>
            <a:endParaRPr lang="ru-RU" dirty="0"/>
          </a:p>
        </p:txBody>
      </p:sp>
      <p:sp>
        <p:nvSpPr>
          <p:cNvPr id="3" name="Прямоугольник 2"/>
          <p:cNvSpPr/>
          <p:nvPr/>
        </p:nvSpPr>
        <p:spPr>
          <a:xfrm>
            <a:off x="499891" y="1007223"/>
            <a:ext cx="11483546" cy="3693319"/>
          </a:xfrm>
          <a:prstGeom prst="rect">
            <a:avLst/>
          </a:prstGeom>
        </p:spPr>
        <p:txBody>
          <a:bodyPr wrap="square">
            <a:spAutoFit/>
          </a:bodyPr>
          <a:lstStyle/>
          <a:p>
            <a:r>
              <a:rPr lang="en-US" dirty="0" smtClean="0">
                <a:solidFill>
                  <a:srgbClr val="0F1115"/>
                </a:solidFill>
                <a:latin typeface="quote-cjk-patch"/>
              </a:rPr>
              <a:t>	</a:t>
            </a:r>
            <a:r>
              <a:rPr lang="ru-RU" dirty="0" smtClean="0">
                <a:solidFill>
                  <a:srgbClr val="0F1115"/>
                </a:solidFill>
                <a:latin typeface="quote-cjk-patch"/>
              </a:rPr>
              <a:t>Инерциальные навигационные </a:t>
            </a:r>
            <a:r>
              <a:rPr lang="ru-RU" dirty="0">
                <a:solidFill>
                  <a:srgbClr val="0F1115"/>
                </a:solidFill>
                <a:latin typeface="quote-cjk-patch"/>
              </a:rPr>
              <a:t>системы (IRS) и </a:t>
            </a:r>
            <a:r>
              <a:rPr lang="ru-RU" dirty="0" smtClean="0">
                <a:solidFill>
                  <a:srgbClr val="0F1115"/>
                </a:solidFill>
                <a:latin typeface="quote-cjk-patch"/>
              </a:rPr>
              <a:t>приёмники </a:t>
            </a:r>
            <a:r>
              <a:rPr lang="ru-RU" dirty="0">
                <a:solidFill>
                  <a:srgbClr val="0F1115"/>
                </a:solidFill>
                <a:latin typeface="quote-cjk-patch"/>
              </a:rPr>
              <a:t>глобальных навигационных спутниковых систем (GNSS) обычно интегрируются для достижения повышенной точности позиционирования и ширины полосы пропускания. IRS и GPS также могут быть интегрированы для обеспечения повышенной целостности, непрерывности и доступности.</a:t>
            </a:r>
          </a:p>
          <a:p>
            <a:r>
              <a:rPr lang="ru-RU" dirty="0" smtClean="0">
                <a:solidFill>
                  <a:srgbClr val="0F1115"/>
                </a:solidFill>
                <a:latin typeface="quote-cjk-patch"/>
              </a:rPr>
              <a:t>	На </a:t>
            </a:r>
            <a:r>
              <a:rPr lang="ru-RU" dirty="0">
                <a:solidFill>
                  <a:srgbClr val="0F1115"/>
                </a:solidFill>
                <a:latin typeface="quote-cjk-patch"/>
              </a:rPr>
              <a:t>воздушном судне обычно имеются 2-3 </a:t>
            </a:r>
            <a:r>
              <a:rPr lang="en-US" dirty="0" smtClean="0">
                <a:solidFill>
                  <a:srgbClr val="0F1115"/>
                </a:solidFill>
                <a:latin typeface="quote-cjk-patch"/>
              </a:rPr>
              <a:t>IRS</a:t>
            </a:r>
            <a:r>
              <a:rPr lang="ru-RU" dirty="0" smtClean="0">
                <a:solidFill>
                  <a:srgbClr val="0F1115"/>
                </a:solidFill>
                <a:latin typeface="quote-cjk-patch"/>
              </a:rPr>
              <a:t>, </a:t>
            </a:r>
            <a:r>
              <a:rPr lang="ru-RU" dirty="0">
                <a:solidFill>
                  <a:srgbClr val="0F1115"/>
                </a:solidFill>
                <a:latin typeface="quote-cjk-patch"/>
              </a:rPr>
              <a:t>которые предоставляют курс, ориентацию (</a:t>
            </a:r>
            <a:r>
              <a:rPr lang="ru-RU" dirty="0" err="1">
                <a:solidFill>
                  <a:srgbClr val="0F1115"/>
                </a:solidFill>
                <a:latin typeface="quote-cjk-patch"/>
              </a:rPr>
              <a:t>тангаж</a:t>
            </a:r>
            <a:r>
              <a:rPr lang="ru-RU" dirty="0">
                <a:solidFill>
                  <a:srgbClr val="0F1115"/>
                </a:solidFill>
                <a:latin typeface="quote-cjk-patch"/>
              </a:rPr>
              <a:t>, крен), положение, скорость и другие параметры в блок управления полётом и на дисплеи. Также обычно имеются 2 </a:t>
            </a:r>
            <a:r>
              <a:rPr lang="ru-RU" dirty="0" smtClean="0">
                <a:solidFill>
                  <a:srgbClr val="0F1115"/>
                </a:solidFill>
                <a:latin typeface="quote-cjk-patch"/>
              </a:rPr>
              <a:t>приёмника </a:t>
            </a:r>
            <a:r>
              <a:rPr lang="ru-RU" dirty="0">
                <a:solidFill>
                  <a:srgbClr val="0F1115"/>
                </a:solidFill>
                <a:latin typeface="quote-cjk-patch"/>
              </a:rPr>
              <a:t>GNSS, которые предоставляют информацию о положении и скорости.</a:t>
            </a:r>
          </a:p>
          <a:p>
            <a:r>
              <a:rPr lang="ru-RU" dirty="0" smtClean="0">
                <a:solidFill>
                  <a:srgbClr val="0F1115"/>
                </a:solidFill>
                <a:latin typeface="quote-cjk-patch"/>
              </a:rPr>
              <a:t>	С </a:t>
            </a:r>
            <a:r>
              <a:rPr lang="ru-RU" dirty="0">
                <a:solidFill>
                  <a:srgbClr val="0F1115"/>
                </a:solidFill>
                <a:latin typeface="quote-cjk-patch"/>
              </a:rPr>
              <a:t>точки зрения позиционирования, IRS формирует положение с фиксированной целостностью, но точностью, которая ухудшается (растёт) со временем. Датчик GNSS формирует положение, целостность которого меняется во времени из-за изменений геометрии спутников. Предоставляя IRS необработанные измерительные данные от приёмников GPS, IRS может объединять эту информацию со своими измерениями движения для обеспечения повышенной целостности по сравнению с «мгновенным» решением GNSS.</a:t>
            </a:r>
            <a:endParaRPr lang="ru-RU" b="0" i="0" dirty="0">
              <a:solidFill>
                <a:srgbClr val="0F1115"/>
              </a:solidFill>
              <a:effectLst/>
              <a:latin typeface="quote-cjk-patch"/>
            </a:endParaRPr>
          </a:p>
        </p:txBody>
      </p:sp>
    </p:spTree>
    <p:extLst>
      <p:ext uri="{BB962C8B-B14F-4D97-AF65-F5344CB8AC3E}">
        <p14:creationId xmlns:p14="http://schemas.microsoft.com/office/powerpoint/2010/main" val="37641839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11</a:t>
            </a:r>
            <a:endParaRPr lang="ru-RU" dirty="0"/>
          </a:p>
        </p:txBody>
      </p:sp>
      <p:sp>
        <p:nvSpPr>
          <p:cNvPr id="9" name="TextBox 8"/>
          <p:cNvSpPr txBox="1"/>
          <p:nvPr/>
        </p:nvSpPr>
        <p:spPr>
          <a:xfrm>
            <a:off x="5685516" y="163860"/>
            <a:ext cx="705642" cy="369332"/>
          </a:xfrm>
          <a:prstGeom prst="rect">
            <a:avLst/>
          </a:prstGeom>
          <a:noFill/>
        </p:spPr>
        <p:txBody>
          <a:bodyPr wrap="none" rtlCol="0">
            <a:spAutoFit/>
          </a:bodyPr>
          <a:lstStyle/>
          <a:p>
            <a:pPr algn="ctr"/>
            <a:r>
              <a:rPr lang="en-US" dirty="0" smtClean="0"/>
              <a:t>AAIM</a:t>
            </a:r>
            <a:endParaRPr lang="ru-RU" dirty="0"/>
          </a:p>
        </p:txBody>
      </p:sp>
      <p:pic>
        <p:nvPicPr>
          <p:cNvPr id="2" name="Рисунок 1"/>
          <p:cNvPicPr>
            <a:picLocks noChangeAspect="1"/>
          </p:cNvPicPr>
          <p:nvPr/>
        </p:nvPicPr>
        <p:blipFill>
          <a:blip r:embed="rId2"/>
          <a:stretch>
            <a:fillRect/>
          </a:stretch>
        </p:blipFill>
        <p:spPr>
          <a:xfrm>
            <a:off x="1238250" y="747712"/>
            <a:ext cx="9715500" cy="5362575"/>
          </a:xfrm>
          <a:prstGeom prst="rect">
            <a:avLst/>
          </a:prstGeom>
        </p:spPr>
      </p:pic>
    </p:spTree>
    <p:extLst>
      <p:ext uri="{BB962C8B-B14F-4D97-AF65-F5344CB8AC3E}">
        <p14:creationId xmlns:p14="http://schemas.microsoft.com/office/powerpoint/2010/main" val="2050507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12</a:t>
            </a:r>
            <a:endParaRPr lang="ru-RU" dirty="0"/>
          </a:p>
        </p:txBody>
      </p:sp>
      <p:sp>
        <p:nvSpPr>
          <p:cNvPr id="9" name="TextBox 8"/>
          <p:cNvSpPr txBox="1"/>
          <p:nvPr/>
        </p:nvSpPr>
        <p:spPr>
          <a:xfrm>
            <a:off x="5685516" y="163860"/>
            <a:ext cx="705642" cy="369332"/>
          </a:xfrm>
          <a:prstGeom prst="rect">
            <a:avLst/>
          </a:prstGeom>
          <a:noFill/>
        </p:spPr>
        <p:txBody>
          <a:bodyPr wrap="none" rtlCol="0">
            <a:spAutoFit/>
          </a:bodyPr>
          <a:lstStyle/>
          <a:p>
            <a:pPr algn="ctr"/>
            <a:r>
              <a:rPr lang="en-US" dirty="0" smtClean="0"/>
              <a:t>AAIM</a:t>
            </a:r>
            <a:endParaRPr lang="ru-RU" dirty="0"/>
          </a:p>
        </p:txBody>
      </p:sp>
      <p:sp>
        <p:nvSpPr>
          <p:cNvPr id="2" name="Прямоугольник 1"/>
          <p:cNvSpPr/>
          <p:nvPr/>
        </p:nvSpPr>
        <p:spPr>
          <a:xfrm>
            <a:off x="609998" y="1014437"/>
            <a:ext cx="11164087" cy="3693319"/>
          </a:xfrm>
          <a:prstGeom prst="rect">
            <a:avLst/>
          </a:prstGeom>
        </p:spPr>
        <p:txBody>
          <a:bodyPr wrap="square">
            <a:spAutoFit/>
          </a:bodyPr>
          <a:lstStyle/>
          <a:p>
            <a:r>
              <a:rPr lang="en-US" dirty="0" smtClean="0">
                <a:solidFill>
                  <a:srgbClr val="0F1115"/>
                </a:solidFill>
                <a:latin typeface="quote-cjk-patch"/>
              </a:rPr>
              <a:t>	</a:t>
            </a:r>
            <a:r>
              <a:rPr lang="ru-RU" dirty="0" smtClean="0">
                <a:solidFill>
                  <a:srgbClr val="0F1115"/>
                </a:solidFill>
                <a:latin typeface="quote-cjk-patch"/>
              </a:rPr>
              <a:t>Фильтры </a:t>
            </a:r>
            <a:r>
              <a:rPr lang="ru-RU" dirty="0">
                <a:solidFill>
                  <a:srgbClr val="0F1115"/>
                </a:solidFill>
                <a:latin typeface="quote-cjk-patch"/>
              </a:rPr>
              <a:t>Калмана на протяжении многих лет используются для объединения (смешивания) датчиков с взаимодополняющими свойствами. Это слияние обычно обусловлено потребностью в повышенной точности, но также может использоваться для обеспечения улучшенной целостности, непрерывности и доступности.</a:t>
            </a:r>
          </a:p>
          <a:p>
            <a:r>
              <a:rPr lang="en-US" dirty="0" smtClean="0">
                <a:solidFill>
                  <a:srgbClr val="0F1115"/>
                </a:solidFill>
                <a:latin typeface="quote-cjk-patch"/>
              </a:rPr>
              <a:t>	</a:t>
            </a:r>
            <a:r>
              <a:rPr lang="ru-RU" dirty="0" smtClean="0">
                <a:solidFill>
                  <a:srgbClr val="0F1115"/>
                </a:solidFill>
                <a:latin typeface="quote-cjk-patch"/>
              </a:rPr>
              <a:t>Инерциальная </a:t>
            </a:r>
            <a:r>
              <a:rPr lang="ru-RU" dirty="0">
                <a:solidFill>
                  <a:srgbClr val="0F1115"/>
                </a:solidFill>
                <a:latin typeface="quote-cjk-patch"/>
              </a:rPr>
              <a:t>система очень точна в краткосрочной перспективе, но имеет ошибки, которые значительно растут со временем. GPS, с другой стороны, имеет относительно большие краткосрочные ошибки, но хорошую долгосрочную ограниченную точность. Точность GPS зависит от геометрии спутников, на которую могут влиять маскировка сигнала и помехи. Легко можно увидеть возможные преимущества объединения этих взаимодополняющих систем с точки зрения точности. В реализации гибридной системы INS/GPS (HIGH) компании </a:t>
            </a:r>
            <a:r>
              <a:rPr lang="ru-RU" dirty="0" err="1">
                <a:solidFill>
                  <a:srgbClr val="0F1115"/>
                </a:solidFill>
                <a:latin typeface="quote-cjk-patch"/>
              </a:rPr>
              <a:t>Honeywell</a:t>
            </a:r>
            <a:r>
              <a:rPr lang="ru-RU" dirty="0">
                <a:solidFill>
                  <a:srgbClr val="0F1115"/>
                </a:solidFill>
                <a:latin typeface="quote-cjk-patch"/>
              </a:rPr>
              <a:t> используется объединение измерений псевдодальностей GPS и высоты по давлению с инерциальными данными с использованием методов фильтрации Калмана для обеспечения улучшенных навигационных характеристик, которые лучше, чем возможны с автономными системами GPS.</a:t>
            </a:r>
            <a:endParaRPr lang="ru-RU" b="0" i="0" dirty="0">
              <a:solidFill>
                <a:srgbClr val="0F1115"/>
              </a:solidFill>
              <a:effectLst/>
              <a:latin typeface="quote-cjk-patch"/>
            </a:endParaRPr>
          </a:p>
        </p:txBody>
      </p:sp>
    </p:spTree>
    <p:extLst>
      <p:ext uri="{BB962C8B-B14F-4D97-AF65-F5344CB8AC3E}">
        <p14:creationId xmlns:p14="http://schemas.microsoft.com/office/powerpoint/2010/main" val="21652664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13</a:t>
            </a:r>
            <a:endParaRPr lang="ru-RU" dirty="0"/>
          </a:p>
        </p:txBody>
      </p:sp>
      <p:sp>
        <p:nvSpPr>
          <p:cNvPr id="9" name="TextBox 8"/>
          <p:cNvSpPr txBox="1"/>
          <p:nvPr/>
        </p:nvSpPr>
        <p:spPr>
          <a:xfrm>
            <a:off x="5685516" y="163860"/>
            <a:ext cx="705642" cy="369332"/>
          </a:xfrm>
          <a:prstGeom prst="rect">
            <a:avLst/>
          </a:prstGeom>
          <a:noFill/>
        </p:spPr>
        <p:txBody>
          <a:bodyPr wrap="none" rtlCol="0">
            <a:spAutoFit/>
          </a:bodyPr>
          <a:lstStyle/>
          <a:p>
            <a:pPr algn="ctr"/>
            <a:r>
              <a:rPr lang="en-US" dirty="0" smtClean="0"/>
              <a:t>AAIM</a:t>
            </a:r>
            <a:endParaRPr lang="ru-RU" dirty="0"/>
          </a:p>
        </p:txBody>
      </p:sp>
      <p:sp>
        <p:nvSpPr>
          <p:cNvPr id="3" name="Прямоугольник 2"/>
          <p:cNvSpPr/>
          <p:nvPr/>
        </p:nvSpPr>
        <p:spPr>
          <a:xfrm>
            <a:off x="230660" y="968603"/>
            <a:ext cx="11961340" cy="5355312"/>
          </a:xfrm>
          <a:prstGeom prst="rect">
            <a:avLst/>
          </a:prstGeom>
        </p:spPr>
        <p:txBody>
          <a:bodyPr wrap="square">
            <a:spAutoFit/>
          </a:bodyPr>
          <a:lstStyle/>
          <a:p>
            <a:r>
              <a:rPr lang="en-US" dirty="0" smtClean="0">
                <a:solidFill>
                  <a:srgbClr val="0F1115"/>
                </a:solidFill>
                <a:latin typeface="quote-cjk-patch"/>
              </a:rPr>
              <a:t>	</a:t>
            </a:r>
            <a:r>
              <a:rPr lang="ru-RU" dirty="0" smtClean="0">
                <a:solidFill>
                  <a:srgbClr val="0F1115"/>
                </a:solidFill>
                <a:latin typeface="quote-cjk-patch"/>
              </a:rPr>
              <a:t>Хотя </a:t>
            </a:r>
            <a:r>
              <a:rPr lang="ru-RU" dirty="0">
                <a:solidFill>
                  <a:srgbClr val="0F1115"/>
                </a:solidFill>
                <a:latin typeface="quote-cjk-patch"/>
              </a:rPr>
              <a:t>гибридная система дает значительные преимущества в точности, обеспечение возможности обнаружения и исключения отказов спутников (FDE) оказалось серьезной задачей. GPS уязвим для ошибок в спутниковом сигнале в космосе. Обычно автономные приемники GPS используют «мгновенный» алгоритм автономного контроля целостности приемника (RAIM), который основан только на информации, полученной в определенный момент времени, поэтому на него не влияют предыдущие измерения. К сожалению, вычисление RAIM требует избыточных спутников и действительно только для этого конкретного времени. Инерциальная система является автономной, поэтому ее производительность не подвержена внешним помехам и отказам общего режима. Большинство коммерческих самолетов имеют резервные инерциальные системы для обеспечения инерциальной целостности.</a:t>
            </a:r>
          </a:p>
          <a:p>
            <a:r>
              <a:rPr lang="en-US" dirty="0" smtClean="0">
                <a:solidFill>
                  <a:srgbClr val="0F1115"/>
                </a:solidFill>
                <a:latin typeface="quote-cjk-patch"/>
              </a:rPr>
              <a:t>	</a:t>
            </a:r>
            <a:r>
              <a:rPr lang="ru-RU" dirty="0" smtClean="0">
                <a:solidFill>
                  <a:srgbClr val="0F1115"/>
                </a:solidFill>
                <a:latin typeface="quote-cjk-patch"/>
              </a:rPr>
              <a:t>Присущая </a:t>
            </a:r>
            <a:r>
              <a:rPr lang="ru-RU" dirty="0">
                <a:solidFill>
                  <a:srgbClr val="0F1115"/>
                </a:solidFill>
                <a:latin typeface="quote-cjk-patch"/>
              </a:rPr>
              <a:t>фильтру Калмана природа заключается в том, что он сохраняет «память» о предыдущих измерениях и оценках ошибок в текущем решении. Отказы спутников, которые развиваются медленно, могут повлиять на решение до того, как они будут обнаружены. Даже после того, как ошибочный спутник исключен из решения, гибридное положение будет продолжать подвергаться влиянию ошибки в течение нескольких минут.</a:t>
            </a:r>
          </a:p>
          <a:p>
            <a:r>
              <a:rPr lang="en-US" dirty="0" smtClean="0">
                <a:solidFill>
                  <a:srgbClr val="0F1115"/>
                </a:solidFill>
                <a:latin typeface="quote-cjk-patch"/>
              </a:rPr>
              <a:t>	</a:t>
            </a:r>
            <a:r>
              <a:rPr lang="ru-RU" dirty="0" smtClean="0">
                <a:solidFill>
                  <a:srgbClr val="0F1115"/>
                </a:solidFill>
                <a:latin typeface="quote-cjk-patch"/>
              </a:rPr>
              <a:t>Метод </a:t>
            </a:r>
            <a:r>
              <a:rPr lang="ru-RU" dirty="0">
                <a:solidFill>
                  <a:srgbClr val="0F1115"/>
                </a:solidFill>
                <a:latin typeface="quote-cjk-patch"/>
              </a:rPr>
              <a:t>разделения решений, используемый в реализации HIGH компании </a:t>
            </a:r>
            <a:r>
              <a:rPr lang="ru-RU" dirty="0" err="1">
                <a:solidFill>
                  <a:srgbClr val="0F1115"/>
                </a:solidFill>
                <a:latin typeface="quote-cjk-patch"/>
              </a:rPr>
              <a:t>Honeywell</a:t>
            </a:r>
            <a:r>
              <a:rPr lang="ru-RU" dirty="0">
                <a:solidFill>
                  <a:srgbClr val="0F1115"/>
                </a:solidFill>
                <a:latin typeface="quote-cjk-patch"/>
              </a:rPr>
              <a:t>, является одним из методов, который решает проблему возможного повреждения решений фильтра Калмана. Решение (HIGH) использует несколько фильтров Калмана, работающих с различными подмножествами спутниковых измерений, для формирования объединенной метрики целостности. Базовая архитектура этого метода интеграции показана на Рисунке 6.</a:t>
            </a:r>
            <a:endParaRPr lang="ru-RU" b="0" i="0" dirty="0">
              <a:solidFill>
                <a:srgbClr val="0F1115"/>
              </a:solidFill>
              <a:effectLst/>
              <a:latin typeface="quote-cjk-patch"/>
            </a:endParaRPr>
          </a:p>
        </p:txBody>
      </p:sp>
    </p:spTree>
    <p:extLst>
      <p:ext uri="{BB962C8B-B14F-4D97-AF65-F5344CB8AC3E}">
        <p14:creationId xmlns:p14="http://schemas.microsoft.com/office/powerpoint/2010/main" val="29408853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14</a:t>
            </a:r>
            <a:endParaRPr lang="ru-RU" dirty="0"/>
          </a:p>
        </p:txBody>
      </p:sp>
      <p:sp>
        <p:nvSpPr>
          <p:cNvPr id="9" name="TextBox 8"/>
          <p:cNvSpPr txBox="1"/>
          <p:nvPr/>
        </p:nvSpPr>
        <p:spPr>
          <a:xfrm>
            <a:off x="5685516" y="163860"/>
            <a:ext cx="705642" cy="369332"/>
          </a:xfrm>
          <a:prstGeom prst="rect">
            <a:avLst/>
          </a:prstGeom>
          <a:noFill/>
        </p:spPr>
        <p:txBody>
          <a:bodyPr wrap="none" rtlCol="0">
            <a:spAutoFit/>
          </a:bodyPr>
          <a:lstStyle/>
          <a:p>
            <a:pPr algn="ctr"/>
            <a:r>
              <a:rPr lang="en-US" dirty="0" smtClean="0"/>
              <a:t>AAIM</a:t>
            </a:r>
            <a:endParaRPr lang="ru-RU" dirty="0"/>
          </a:p>
        </p:txBody>
      </p:sp>
      <p:pic>
        <p:nvPicPr>
          <p:cNvPr id="2" name="Рисунок 1"/>
          <p:cNvPicPr>
            <a:picLocks noChangeAspect="1"/>
          </p:cNvPicPr>
          <p:nvPr/>
        </p:nvPicPr>
        <p:blipFill>
          <a:blip r:embed="rId2"/>
          <a:stretch>
            <a:fillRect/>
          </a:stretch>
        </p:blipFill>
        <p:spPr>
          <a:xfrm>
            <a:off x="1109148" y="1035007"/>
            <a:ext cx="9858375" cy="5133975"/>
          </a:xfrm>
          <a:prstGeom prst="rect">
            <a:avLst/>
          </a:prstGeom>
        </p:spPr>
      </p:pic>
    </p:spTree>
    <p:extLst>
      <p:ext uri="{BB962C8B-B14F-4D97-AF65-F5344CB8AC3E}">
        <p14:creationId xmlns:p14="http://schemas.microsoft.com/office/powerpoint/2010/main" val="8593548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15</a:t>
            </a:r>
            <a:endParaRPr lang="ru-RU" dirty="0"/>
          </a:p>
        </p:txBody>
      </p:sp>
      <p:sp>
        <p:nvSpPr>
          <p:cNvPr id="9" name="TextBox 8"/>
          <p:cNvSpPr txBox="1"/>
          <p:nvPr/>
        </p:nvSpPr>
        <p:spPr>
          <a:xfrm>
            <a:off x="5685516" y="163860"/>
            <a:ext cx="705642" cy="369332"/>
          </a:xfrm>
          <a:prstGeom prst="rect">
            <a:avLst/>
          </a:prstGeom>
          <a:noFill/>
        </p:spPr>
        <p:txBody>
          <a:bodyPr wrap="none" rtlCol="0">
            <a:spAutoFit/>
          </a:bodyPr>
          <a:lstStyle/>
          <a:p>
            <a:pPr algn="ctr"/>
            <a:r>
              <a:rPr lang="en-US" dirty="0" smtClean="0"/>
              <a:t>AAIM</a:t>
            </a:r>
            <a:endParaRPr lang="ru-RU" dirty="0"/>
          </a:p>
        </p:txBody>
      </p:sp>
      <p:sp>
        <p:nvSpPr>
          <p:cNvPr id="3" name="Прямоугольник 2"/>
          <p:cNvSpPr/>
          <p:nvPr/>
        </p:nvSpPr>
        <p:spPr>
          <a:xfrm>
            <a:off x="370703" y="667265"/>
            <a:ext cx="11532973" cy="3416320"/>
          </a:xfrm>
          <a:prstGeom prst="rect">
            <a:avLst/>
          </a:prstGeom>
        </p:spPr>
        <p:txBody>
          <a:bodyPr wrap="square">
            <a:spAutoFit/>
          </a:bodyPr>
          <a:lstStyle/>
          <a:p>
            <a:r>
              <a:rPr lang="en-US" dirty="0" smtClean="0">
                <a:solidFill>
                  <a:srgbClr val="0F1115"/>
                </a:solidFill>
                <a:latin typeface="quote-cjk-patch"/>
              </a:rPr>
              <a:t>	</a:t>
            </a:r>
            <a:r>
              <a:rPr lang="ru-RU" dirty="0" smtClean="0">
                <a:solidFill>
                  <a:srgbClr val="0F1115"/>
                </a:solidFill>
                <a:latin typeface="quote-cjk-patch"/>
              </a:rPr>
              <a:t>Метод </a:t>
            </a:r>
            <a:r>
              <a:rPr lang="ru-RU" dirty="0">
                <a:solidFill>
                  <a:srgbClr val="0F1115"/>
                </a:solidFill>
                <a:latin typeface="quote-cjk-patch"/>
              </a:rPr>
              <a:t>разделения решений состоит из множества гибридных решений положения инерциальной системы/GPS с использованием множества фильтров Калмана. Полный набор фильтров включает основной фильтр, </a:t>
            </a:r>
            <a:r>
              <a:rPr lang="ru-RU" dirty="0" err="1">
                <a:solidFill>
                  <a:srgbClr val="0F1115"/>
                </a:solidFill>
                <a:latin typeface="quote-cjk-patch"/>
              </a:rPr>
              <a:t>подфильтры</a:t>
            </a:r>
            <a:r>
              <a:rPr lang="ru-RU" dirty="0">
                <a:solidFill>
                  <a:srgbClr val="0F1115"/>
                </a:solidFill>
                <a:latin typeface="quote-cjk-patch"/>
              </a:rPr>
              <a:t> и под-</a:t>
            </a:r>
            <a:r>
              <a:rPr lang="ru-RU" dirty="0" err="1">
                <a:solidFill>
                  <a:srgbClr val="0F1115"/>
                </a:solidFill>
                <a:latin typeface="quote-cjk-patch"/>
              </a:rPr>
              <a:t>подфильтры</a:t>
            </a:r>
            <a:r>
              <a:rPr lang="ru-RU" dirty="0">
                <a:solidFill>
                  <a:srgbClr val="0F1115"/>
                </a:solidFill>
                <a:latin typeface="quote-cjk-patch"/>
              </a:rPr>
              <a:t>. Основной фильтр включает измерения от всех N видимых спутников. Каждый </a:t>
            </a:r>
            <a:r>
              <a:rPr lang="ru-RU" dirty="0" err="1">
                <a:solidFill>
                  <a:srgbClr val="0F1115"/>
                </a:solidFill>
                <a:latin typeface="quote-cjk-patch"/>
              </a:rPr>
              <a:t>подфильтр</a:t>
            </a:r>
            <a:r>
              <a:rPr lang="ru-RU" dirty="0">
                <a:solidFill>
                  <a:srgbClr val="0F1115"/>
                </a:solidFill>
                <a:latin typeface="quote-cjk-patch"/>
              </a:rPr>
              <a:t> из набора из N </a:t>
            </a:r>
            <a:r>
              <a:rPr lang="ru-RU" dirty="0" err="1">
                <a:solidFill>
                  <a:srgbClr val="0F1115"/>
                </a:solidFill>
                <a:latin typeface="quote-cjk-patch"/>
              </a:rPr>
              <a:t>подфильтров</a:t>
            </a:r>
            <a:r>
              <a:rPr lang="ru-RU" dirty="0">
                <a:solidFill>
                  <a:srgbClr val="0F1115"/>
                </a:solidFill>
                <a:latin typeface="quote-cjk-patch"/>
              </a:rPr>
              <a:t> включает измерения от другой комбинации N-1 спутников. Обнаружение отказа происходит, когда разделение между решением основного фильтра и, по крайней мере, одним из решений </a:t>
            </a:r>
            <a:r>
              <a:rPr lang="ru-RU" dirty="0" err="1">
                <a:solidFill>
                  <a:srgbClr val="0F1115"/>
                </a:solidFill>
                <a:latin typeface="quote-cjk-patch"/>
              </a:rPr>
              <a:t>подфильтров</a:t>
            </a:r>
            <a:r>
              <a:rPr lang="ru-RU" dirty="0">
                <a:solidFill>
                  <a:srgbClr val="0F1115"/>
                </a:solidFill>
                <a:latin typeface="quote-cjk-patch"/>
              </a:rPr>
              <a:t> превышает порог, который основан на ожидаемом статистическом разделении и допустимой частоте ложных предупреждений. Для каждого </a:t>
            </a:r>
            <a:r>
              <a:rPr lang="ru-RU" dirty="0" err="1">
                <a:solidFill>
                  <a:srgbClr val="0F1115"/>
                </a:solidFill>
                <a:latin typeface="quote-cjk-patch"/>
              </a:rPr>
              <a:t>подфильтра</a:t>
            </a:r>
            <a:r>
              <a:rPr lang="ru-RU" dirty="0">
                <a:solidFill>
                  <a:srgbClr val="0F1115"/>
                </a:solidFill>
                <a:latin typeface="quote-cjk-patch"/>
              </a:rPr>
              <a:t> существует набор из N-1 под-</a:t>
            </a:r>
            <a:r>
              <a:rPr lang="ru-RU" dirty="0" err="1">
                <a:solidFill>
                  <a:srgbClr val="0F1115"/>
                </a:solidFill>
                <a:latin typeface="quote-cjk-patch"/>
              </a:rPr>
              <a:t>подфильтров</a:t>
            </a:r>
            <a:r>
              <a:rPr lang="ru-RU" dirty="0">
                <a:solidFill>
                  <a:srgbClr val="0F1115"/>
                </a:solidFill>
                <a:latin typeface="quote-cjk-patch"/>
              </a:rPr>
              <a:t>, каждый из которых включает измерения только от оставшихся N-2 спутников. Иерархия решений фильтра </a:t>
            </a:r>
            <a:r>
              <a:rPr lang="ru-RU" dirty="0" smtClean="0">
                <a:solidFill>
                  <a:srgbClr val="0F1115"/>
                </a:solidFill>
                <a:latin typeface="quote-cjk-patch"/>
              </a:rPr>
              <a:t>Калмана</a:t>
            </a:r>
            <a:r>
              <a:rPr lang="en-US" dirty="0" smtClean="0">
                <a:solidFill>
                  <a:srgbClr val="0F1115"/>
                </a:solidFill>
                <a:latin typeface="quote-cjk-patch"/>
              </a:rPr>
              <a:t> </a:t>
            </a:r>
            <a:r>
              <a:rPr lang="ru-RU" dirty="0" smtClean="0">
                <a:solidFill>
                  <a:srgbClr val="0F1115"/>
                </a:solidFill>
                <a:latin typeface="quote-cjk-patch"/>
              </a:rPr>
              <a:t>показана </a:t>
            </a:r>
            <a:r>
              <a:rPr lang="ru-RU" dirty="0">
                <a:solidFill>
                  <a:srgbClr val="0F1115"/>
                </a:solidFill>
                <a:latin typeface="quote-cjk-patch"/>
              </a:rPr>
              <a:t>на Рис. 7. Числа указывают, какие спутники исключены из решения данного фильтра.</a:t>
            </a:r>
          </a:p>
          <a:p>
            <a:r>
              <a:rPr lang="ru-RU" dirty="0"/>
              <a:t/>
            </a:r>
            <a:br>
              <a:rPr lang="ru-RU" dirty="0"/>
            </a:br>
            <a:endParaRPr lang="ru-RU" dirty="0"/>
          </a:p>
        </p:txBody>
      </p:sp>
      <p:pic>
        <p:nvPicPr>
          <p:cNvPr id="4" name="Рисунок 3"/>
          <p:cNvPicPr>
            <a:picLocks noChangeAspect="1"/>
          </p:cNvPicPr>
          <p:nvPr/>
        </p:nvPicPr>
        <p:blipFill>
          <a:blip r:embed="rId2"/>
          <a:stretch>
            <a:fillRect/>
          </a:stretch>
        </p:blipFill>
        <p:spPr>
          <a:xfrm>
            <a:off x="837291" y="3902418"/>
            <a:ext cx="9696450" cy="2381250"/>
          </a:xfrm>
          <a:prstGeom prst="rect">
            <a:avLst/>
          </a:prstGeom>
        </p:spPr>
      </p:pic>
    </p:spTree>
    <p:extLst>
      <p:ext uri="{BB962C8B-B14F-4D97-AF65-F5344CB8AC3E}">
        <p14:creationId xmlns:p14="http://schemas.microsoft.com/office/powerpoint/2010/main" val="9154757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a:t>
            </a:r>
            <a:r>
              <a:rPr lang="en-US" dirty="0" smtClean="0"/>
              <a:t>6</a:t>
            </a:r>
            <a:endParaRPr lang="ru-RU" dirty="0"/>
          </a:p>
        </p:txBody>
      </p:sp>
      <p:sp>
        <p:nvSpPr>
          <p:cNvPr id="9" name="TextBox 8"/>
          <p:cNvSpPr txBox="1"/>
          <p:nvPr/>
        </p:nvSpPr>
        <p:spPr>
          <a:xfrm>
            <a:off x="5685516" y="163860"/>
            <a:ext cx="705642" cy="369332"/>
          </a:xfrm>
          <a:prstGeom prst="rect">
            <a:avLst/>
          </a:prstGeom>
          <a:noFill/>
        </p:spPr>
        <p:txBody>
          <a:bodyPr wrap="none" rtlCol="0">
            <a:spAutoFit/>
          </a:bodyPr>
          <a:lstStyle/>
          <a:p>
            <a:pPr algn="ctr"/>
            <a:r>
              <a:rPr lang="en-US" dirty="0" smtClean="0"/>
              <a:t>AAIM</a:t>
            </a:r>
            <a:endParaRPr lang="ru-RU" dirty="0"/>
          </a:p>
        </p:txBody>
      </p:sp>
      <p:pic>
        <p:nvPicPr>
          <p:cNvPr id="2" name="Рисунок 1"/>
          <p:cNvPicPr>
            <a:picLocks noChangeAspect="1"/>
          </p:cNvPicPr>
          <p:nvPr/>
        </p:nvPicPr>
        <p:blipFill>
          <a:blip r:embed="rId2"/>
          <a:stretch>
            <a:fillRect/>
          </a:stretch>
        </p:blipFill>
        <p:spPr>
          <a:xfrm>
            <a:off x="1622856" y="543012"/>
            <a:ext cx="8703918" cy="6191214"/>
          </a:xfrm>
          <a:prstGeom prst="rect">
            <a:avLst/>
          </a:prstGeom>
        </p:spPr>
      </p:pic>
    </p:spTree>
    <p:extLst>
      <p:ext uri="{BB962C8B-B14F-4D97-AF65-F5344CB8AC3E}">
        <p14:creationId xmlns:p14="http://schemas.microsoft.com/office/powerpoint/2010/main" val="31020589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1812213" y="202342"/>
            <a:ext cx="7401808" cy="6655658"/>
          </a:xfrm>
          <a:prstGeom prst="rect">
            <a:avLst/>
          </a:prstGeom>
        </p:spPr>
      </p:pic>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a:t>
            </a:r>
            <a:r>
              <a:rPr lang="en-US" dirty="0" smtClean="0"/>
              <a:t>7</a:t>
            </a:r>
            <a:endParaRPr lang="ru-RU" dirty="0"/>
          </a:p>
        </p:txBody>
      </p:sp>
      <p:sp>
        <p:nvSpPr>
          <p:cNvPr id="9" name="TextBox 8"/>
          <p:cNvSpPr txBox="1"/>
          <p:nvPr/>
        </p:nvSpPr>
        <p:spPr>
          <a:xfrm>
            <a:off x="5685516" y="163860"/>
            <a:ext cx="705642" cy="369332"/>
          </a:xfrm>
          <a:prstGeom prst="rect">
            <a:avLst/>
          </a:prstGeom>
          <a:noFill/>
        </p:spPr>
        <p:txBody>
          <a:bodyPr wrap="none" rtlCol="0">
            <a:spAutoFit/>
          </a:bodyPr>
          <a:lstStyle/>
          <a:p>
            <a:pPr algn="ctr"/>
            <a:r>
              <a:rPr lang="en-US" dirty="0" smtClean="0"/>
              <a:t>AAIM</a:t>
            </a:r>
            <a:endParaRPr lang="ru-RU" dirty="0"/>
          </a:p>
        </p:txBody>
      </p:sp>
    </p:spTree>
    <p:extLst>
      <p:ext uri="{BB962C8B-B14F-4D97-AF65-F5344CB8AC3E}">
        <p14:creationId xmlns:p14="http://schemas.microsoft.com/office/powerpoint/2010/main" val="21529859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a:t>
            </a:r>
            <a:r>
              <a:rPr lang="en-US" dirty="0" smtClean="0"/>
              <a:t>8</a:t>
            </a:r>
            <a:endParaRPr lang="ru-RU" dirty="0"/>
          </a:p>
        </p:txBody>
      </p:sp>
      <p:sp>
        <p:nvSpPr>
          <p:cNvPr id="9" name="TextBox 8"/>
          <p:cNvSpPr txBox="1"/>
          <p:nvPr/>
        </p:nvSpPr>
        <p:spPr>
          <a:xfrm>
            <a:off x="5685516" y="163860"/>
            <a:ext cx="705642" cy="369332"/>
          </a:xfrm>
          <a:prstGeom prst="rect">
            <a:avLst/>
          </a:prstGeom>
          <a:noFill/>
        </p:spPr>
        <p:txBody>
          <a:bodyPr wrap="none" rtlCol="0">
            <a:spAutoFit/>
          </a:bodyPr>
          <a:lstStyle/>
          <a:p>
            <a:pPr algn="ctr"/>
            <a:r>
              <a:rPr lang="en-US" dirty="0" smtClean="0"/>
              <a:t>AAIM</a:t>
            </a:r>
            <a:endParaRPr lang="ru-RU" dirty="0"/>
          </a:p>
        </p:txBody>
      </p:sp>
      <p:pic>
        <p:nvPicPr>
          <p:cNvPr id="2" name="Рисунок 1"/>
          <p:cNvPicPr>
            <a:picLocks noChangeAspect="1"/>
          </p:cNvPicPr>
          <p:nvPr/>
        </p:nvPicPr>
        <p:blipFill>
          <a:blip r:embed="rId2"/>
          <a:stretch>
            <a:fillRect/>
          </a:stretch>
        </p:blipFill>
        <p:spPr>
          <a:xfrm>
            <a:off x="1195387" y="738187"/>
            <a:ext cx="9801225" cy="5381625"/>
          </a:xfrm>
          <a:prstGeom prst="rect">
            <a:avLst/>
          </a:prstGeom>
        </p:spPr>
      </p:pic>
    </p:spTree>
    <p:extLst>
      <p:ext uri="{BB962C8B-B14F-4D97-AF65-F5344CB8AC3E}">
        <p14:creationId xmlns:p14="http://schemas.microsoft.com/office/powerpoint/2010/main" val="33876161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3" y="173680"/>
            <a:ext cx="418704" cy="369332"/>
          </a:xfrm>
          <a:prstGeom prst="rect">
            <a:avLst/>
          </a:prstGeom>
          <a:noFill/>
        </p:spPr>
        <p:txBody>
          <a:bodyPr wrap="none" rtlCol="0">
            <a:spAutoFit/>
          </a:bodyPr>
          <a:lstStyle/>
          <a:p>
            <a:pPr algn="ctr"/>
            <a:r>
              <a:rPr lang="ru-RU" dirty="0" smtClean="0"/>
              <a:t>1</a:t>
            </a:r>
            <a:r>
              <a:rPr lang="en-US" dirty="0" smtClean="0"/>
              <a:t>9</a:t>
            </a:r>
            <a:endParaRPr lang="ru-RU" dirty="0"/>
          </a:p>
        </p:txBody>
      </p:sp>
      <p:sp>
        <p:nvSpPr>
          <p:cNvPr id="9" name="TextBox 8"/>
          <p:cNvSpPr txBox="1"/>
          <p:nvPr/>
        </p:nvSpPr>
        <p:spPr>
          <a:xfrm>
            <a:off x="5685516" y="163860"/>
            <a:ext cx="705642" cy="369332"/>
          </a:xfrm>
          <a:prstGeom prst="rect">
            <a:avLst/>
          </a:prstGeom>
          <a:noFill/>
        </p:spPr>
        <p:txBody>
          <a:bodyPr wrap="none" rtlCol="0">
            <a:spAutoFit/>
          </a:bodyPr>
          <a:lstStyle/>
          <a:p>
            <a:pPr algn="ctr"/>
            <a:r>
              <a:rPr lang="en-US" dirty="0" smtClean="0"/>
              <a:t>AAIM</a:t>
            </a:r>
            <a:endParaRPr lang="ru-RU" dirty="0"/>
          </a:p>
        </p:txBody>
      </p:sp>
      <p:pic>
        <p:nvPicPr>
          <p:cNvPr id="3" name="Рисунок 2"/>
          <p:cNvPicPr>
            <a:picLocks noChangeAspect="1"/>
          </p:cNvPicPr>
          <p:nvPr/>
        </p:nvPicPr>
        <p:blipFill>
          <a:blip r:embed="rId2"/>
          <a:stretch>
            <a:fillRect/>
          </a:stretch>
        </p:blipFill>
        <p:spPr>
          <a:xfrm>
            <a:off x="916946" y="1334529"/>
            <a:ext cx="10231422" cy="4205288"/>
          </a:xfrm>
          <a:prstGeom prst="rect">
            <a:avLst/>
          </a:prstGeom>
        </p:spPr>
      </p:pic>
    </p:spTree>
    <p:extLst>
      <p:ext uri="{BB962C8B-B14F-4D97-AF65-F5344CB8AC3E}">
        <p14:creationId xmlns:p14="http://schemas.microsoft.com/office/powerpoint/2010/main" val="3036001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2133600" y="367301"/>
            <a:ext cx="8076943" cy="5541159"/>
          </a:xfrm>
          <a:prstGeom prst="rect">
            <a:avLst/>
          </a:prstGeom>
        </p:spPr>
      </p:pic>
      <p:sp>
        <p:nvSpPr>
          <p:cNvPr id="6" name="Овал 5"/>
          <p:cNvSpPr/>
          <p:nvPr/>
        </p:nvSpPr>
        <p:spPr>
          <a:xfrm>
            <a:off x="11479741" y="49427"/>
            <a:ext cx="588691" cy="6178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11564732" y="173680"/>
            <a:ext cx="418704" cy="369332"/>
          </a:xfrm>
          <a:prstGeom prst="rect">
            <a:avLst/>
          </a:prstGeom>
          <a:noFill/>
        </p:spPr>
        <p:txBody>
          <a:bodyPr wrap="none" rtlCol="0">
            <a:spAutoFit/>
          </a:bodyPr>
          <a:lstStyle/>
          <a:p>
            <a:pPr algn="ctr"/>
            <a:r>
              <a:rPr lang="en-US" dirty="0" smtClean="0"/>
              <a:t>20</a:t>
            </a:r>
            <a:endParaRPr lang="ru-RU" dirty="0"/>
          </a:p>
        </p:txBody>
      </p:sp>
      <p:sp>
        <p:nvSpPr>
          <p:cNvPr id="9" name="TextBox 8"/>
          <p:cNvSpPr txBox="1"/>
          <p:nvPr/>
        </p:nvSpPr>
        <p:spPr>
          <a:xfrm>
            <a:off x="5685516" y="163860"/>
            <a:ext cx="705642" cy="369332"/>
          </a:xfrm>
          <a:prstGeom prst="rect">
            <a:avLst/>
          </a:prstGeom>
          <a:noFill/>
        </p:spPr>
        <p:txBody>
          <a:bodyPr wrap="none" rtlCol="0">
            <a:spAutoFit/>
          </a:bodyPr>
          <a:lstStyle/>
          <a:p>
            <a:pPr algn="ctr"/>
            <a:r>
              <a:rPr lang="en-US" dirty="0" smtClean="0"/>
              <a:t>AAIM</a:t>
            </a:r>
            <a:endParaRPr lang="ru-RU" dirty="0"/>
          </a:p>
        </p:txBody>
      </p:sp>
      <p:pic>
        <p:nvPicPr>
          <p:cNvPr id="4" name="Рисунок 3"/>
          <p:cNvPicPr>
            <a:picLocks noChangeAspect="1"/>
          </p:cNvPicPr>
          <p:nvPr/>
        </p:nvPicPr>
        <p:blipFill>
          <a:blip r:embed="rId3"/>
          <a:stretch>
            <a:fillRect/>
          </a:stretch>
        </p:blipFill>
        <p:spPr>
          <a:xfrm>
            <a:off x="2082054" y="5908460"/>
            <a:ext cx="8128489" cy="698286"/>
          </a:xfrm>
          <a:prstGeom prst="rect">
            <a:avLst/>
          </a:prstGeom>
        </p:spPr>
      </p:pic>
      <p:sp>
        <p:nvSpPr>
          <p:cNvPr id="5" name="Прямоугольник 4"/>
          <p:cNvSpPr/>
          <p:nvPr/>
        </p:nvSpPr>
        <p:spPr>
          <a:xfrm>
            <a:off x="2133600" y="6005384"/>
            <a:ext cx="766119" cy="2522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26601233"/>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262</TotalTime>
  <Words>611</Words>
  <Application>Microsoft Office PowerPoint</Application>
  <PresentationFormat>Широкоэкранный</PresentationFormat>
  <Paragraphs>70</Paragraphs>
  <Slides>20</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20</vt:i4>
      </vt:variant>
    </vt:vector>
  </HeadingPairs>
  <TitlesOfParts>
    <vt:vector size="25" baseType="lpstr">
      <vt:lpstr>Arial</vt:lpstr>
      <vt:lpstr>Calibri</vt:lpstr>
      <vt:lpstr>Calibri Light</vt:lpstr>
      <vt:lpstr>quote-cjk-patch</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Antonov</dc:creator>
  <cp:lastModifiedBy>Antonov</cp:lastModifiedBy>
  <cp:revision>79</cp:revision>
  <dcterms:created xsi:type="dcterms:W3CDTF">2026-02-17T04:06:16Z</dcterms:created>
  <dcterms:modified xsi:type="dcterms:W3CDTF">2026-04-13T08:52:03Z</dcterms:modified>
</cp:coreProperties>
</file>