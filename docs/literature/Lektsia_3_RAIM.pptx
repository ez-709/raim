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2" r:id="rId2"/>
    <p:sldId id="257" r:id="rId3"/>
    <p:sldId id="262" r:id="rId4"/>
    <p:sldId id="261" r:id="rId5"/>
    <p:sldId id="256" r:id="rId6"/>
    <p:sldId id="258" r:id="rId7"/>
    <p:sldId id="273" r:id="rId8"/>
    <p:sldId id="274" r:id="rId9"/>
    <p:sldId id="275" r:id="rId10"/>
    <p:sldId id="276" r:id="rId11"/>
    <p:sldId id="277" r:id="rId12"/>
    <p:sldId id="278" r:id="rId13"/>
    <p:sldId id="279" r:id="rId14"/>
    <p:sldId id="280" r:id="rId15"/>
    <p:sldId id="281" r:id="rId16"/>
    <p:sldId id="282" r:id="rId1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94660"/>
  </p:normalViewPr>
  <p:slideViewPr>
    <p:cSldViewPr snapToGrid="0">
      <p:cViewPr varScale="1">
        <p:scale>
          <a:sx n="116" d="100"/>
          <a:sy n="116" d="100"/>
        </p:scale>
        <p:origin x="138" y="3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ru-RU"/>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C62692CB-7641-4D32-8A20-A935E849857D}" type="datetimeFigureOut">
              <a:rPr lang="ru-RU" smtClean="0"/>
              <a:t>06.04.2026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23E9EF9-69FE-41C7-8616-C9D8B4B74288}" type="slidenum">
              <a:rPr lang="ru-RU" smtClean="0"/>
              <a:t>‹#›</a:t>
            </a:fld>
            <a:endParaRPr lang="ru-RU"/>
          </a:p>
        </p:txBody>
      </p:sp>
    </p:spTree>
    <p:extLst>
      <p:ext uri="{BB962C8B-B14F-4D97-AF65-F5344CB8AC3E}">
        <p14:creationId xmlns:p14="http://schemas.microsoft.com/office/powerpoint/2010/main" val="42286321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C62692CB-7641-4D32-8A20-A935E849857D}" type="datetimeFigureOut">
              <a:rPr lang="ru-RU" smtClean="0"/>
              <a:t>06.04.2026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23E9EF9-69FE-41C7-8616-C9D8B4B74288}" type="slidenum">
              <a:rPr lang="ru-RU" smtClean="0"/>
              <a:t>‹#›</a:t>
            </a:fld>
            <a:endParaRPr lang="ru-RU"/>
          </a:p>
        </p:txBody>
      </p:sp>
    </p:spTree>
    <p:extLst>
      <p:ext uri="{BB962C8B-B14F-4D97-AF65-F5344CB8AC3E}">
        <p14:creationId xmlns:p14="http://schemas.microsoft.com/office/powerpoint/2010/main" val="1349551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ru-RU"/>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C62692CB-7641-4D32-8A20-A935E849857D}" type="datetimeFigureOut">
              <a:rPr lang="ru-RU" smtClean="0"/>
              <a:t>06.04.2026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23E9EF9-69FE-41C7-8616-C9D8B4B74288}" type="slidenum">
              <a:rPr lang="ru-RU" smtClean="0"/>
              <a:t>‹#›</a:t>
            </a:fld>
            <a:endParaRPr lang="ru-RU"/>
          </a:p>
        </p:txBody>
      </p:sp>
    </p:spTree>
    <p:extLst>
      <p:ext uri="{BB962C8B-B14F-4D97-AF65-F5344CB8AC3E}">
        <p14:creationId xmlns:p14="http://schemas.microsoft.com/office/powerpoint/2010/main" val="3939785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C62692CB-7641-4D32-8A20-A935E849857D}" type="datetimeFigureOut">
              <a:rPr lang="ru-RU" smtClean="0"/>
              <a:t>06.04.2026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23E9EF9-69FE-41C7-8616-C9D8B4B74288}" type="slidenum">
              <a:rPr lang="ru-RU" smtClean="0"/>
              <a:t>‹#›</a:t>
            </a:fld>
            <a:endParaRPr lang="ru-RU"/>
          </a:p>
        </p:txBody>
      </p:sp>
    </p:spTree>
    <p:extLst>
      <p:ext uri="{BB962C8B-B14F-4D97-AF65-F5344CB8AC3E}">
        <p14:creationId xmlns:p14="http://schemas.microsoft.com/office/powerpoint/2010/main" val="750520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ru-RU"/>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C62692CB-7641-4D32-8A20-A935E849857D}" type="datetimeFigureOut">
              <a:rPr lang="ru-RU" smtClean="0"/>
              <a:t>06.04.2026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323E9EF9-69FE-41C7-8616-C9D8B4B74288}" type="slidenum">
              <a:rPr lang="ru-RU" smtClean="0"/>
              <a:t>‹#›</a:t>
            </a:fld>
            <a:endParaRPr lang="ru-RU"/>
          </a:p>
        </p:txBody>
      </p:sp>
    </p:spTree>
    <p:extLst>
      <p:ext uri="{BB962C8B-B14F-4D97-AF65-F5344CB8AC3E}">
        <p14:creationId xmlns:p14="http://schemas.microsoft.com/office/powerpoint/2010/main" val="3055440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C62692CB-7641-4D32-8A20-A935E849857D}" type="datetimeFigureOut">
              <a:rPr lang="ru-RU" smtClean="0"/>
              <a:t>06.04.2026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323E9EF9-69FE-41C7-8616-C9D8B4B74288}" type="slidenum">
              <a:rPr lang="ru-RU" smtClean="0"/>
              <a:t>‹#›</a:t>
            </a:fld>
            <a:endParaRPr lang="ru-RU"/>
          </a:p>
        </p:txBody>
      </p:sp>
    </p:spTree>
    <p:extLst>
      <p:ext uri="{BB962C8B-B14F-4D97-AF65-F5344CB8AC3E}">
        <p14:creationId xmlns:p14="http://schemas.microsoft.com/office/powerpoint/2010/main" val="2055659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C62692CB-7641-4D32-8A20-A935E849857D}" type="datetimeFigureOut">
              <a:rPr lang="ru-RU" smtClean="0"/>
              <a:t>06.04.2026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323E9EF9-69FE-41C7-8616-C9D8B4B74288}" type="slidenum">
              <a:rPr lang="ru-RU" smtClean="0"/>
              <a:t>‹#›</a:t>
            </a:fld>
            <a:endParaRPr lang="ru-RU"/>
          </a:p>
        </p:txBody>
      </p:sp>
    </p:spTree>
    <p:extLst>
      <p:ext uri="{BB962C8B-B14F-4D97-AF65-F5344CB8AC3E}">
        <p14:creationId xmlns:p14="http://schemas.microsoft.com/office/powerpoint/2010/main" val="1542168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C62692CB-7641-4D32-8A20-A935E849857D}" type="datetimeFigureOut">
              <a:rPr lang="ru-RU" smtClean="0"/>
              <a:t>06.04.2026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23E9EF9-69FE-41C7-8616-C9D8B4B74288}" type="slidenum">
              <a:rPr lang="ru-RU" smtClean="0"/>
              <a:t>‹#›</a:t>
            </a:fld>
            <a:endParaRPr lang="ru-RU"/>
          </a:p>
        </p:txBody>
      </p:sp>
    </p:spTree>
    <p:extLst>
      <p:ext uri="{BB962C8B-B14F-4D97-AF65-F5344CB8AC3E}">
        <p14:creationId xmlns:p14="http://schemas.microsoft.com/office/powerpoint/2010/main" val="1823065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C62692CB-7641-4D32-8A20-A935E849857D}" type="datetimeFigureOut">
              <a:rPr lang="ru-RU" smtClean="0"/>
              <a:t>06.04.2026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23E9EF9-69FE-41C7-8616-C9D8B4B74288}" type="slidenum">
              <a:rPr lang="ru-RU" smtClean="0"/>
              <a:t>‹#›</a:t>
            </a:fld>
            <a:endParaRPr lang="ru-RU"/>
          </a:p>
        </p:txBody>
      </p:sp>
    </p:spTree>
    <p:extLst>
      <p:ext uri="{BB962C8B-B14F-4D97-AF65-F5344CB8AC3E}">
        <p14:creationId xmlns:p14="http://schemas.microsoft.com/office/powerpoint/2010/main" val="2273825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C62692CB-7641-4D32-8A20-A935E849857D}" type="datetimeFigureOut">
              <a:rPr lang="ru-RU" smtClean="0"/>
              <a:t>06.04.2026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23E9EF9-69FE-41C7-8616-C9D8B4B74288}" type="slidenum">
              <a:rPr lang="ru-RU" smtClean="0"/>
              <a:t>‹#›</a:t>
            </a:fld>
            <a:endParaRPr lang="ru-RU"/>
          </a:p>
        </p:txBody>
      </p:sp>
    </p:spTree>
    <p:extLst>
      <p:ext uri="{BB962C8B-B14F-4D97-AF65-F5344CB8AC3E}">
        <p14:creationId xmlns:p14="http://schemas.microsoft.com/office/powerpoint/2010/main" val="281782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C62692CB-7641-4D32-8A20-A935E849857D}" type="datetimeFigureOut">
              <a:rPr lang="ru-RU" smtClean="0"/>
              <a:t>06.04.2026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23E9EF9-69FE-41C7-8616-C9D8B4B74288}" type="slidenum">
              <a:rPr lang="ru-RU" smtClean="0"/>
              <a:t>‹#›</a:t>
            </a:fld>
            <a:endParaRPr lang="ru-RU"/>
          </a:p>
        </p:txBody>
      </p:sp>
    </p:spTree>
    <p:extLst>
      <p:ext uri="{BB962C8B-B14F-4D97-AF65-F5344CB8AC3E}">
        <p14:creationId xmlns:p14="http://schemas.microsoft.com/office/powerpoint/2010/main" val="3178080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2692CB-7641-4D32-8A20-A935E849857D}" type="datetimeFigureOut">
              <a:rPr lang="ru-RU" smtClean="0"/>
              <a:t>06.04.2026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3E9EF9-69FE-41C7-8616-C9D8B4B74288}" type="slidenum">
              <a:rPr lang="ru-RU" smtClean="0"/>
              <a:t>‹#›</a:t>
            </a:fld>
            <a:endParaRPr lang="ru-RU"/>
          </a:p>
        </p:txBody>
      </p:sp>
    </p:spTree>
    <p:extLst>
      <p:ext uri="{BB962C8B-B14F-4D97-AF65-F5344CB8AC3E}">
        <p14:creationId xmlns:p14="http://schemas.microsoft.com/office/powerpoint/2010/main" val="25028529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928976" y="2832920"/>
            <a:ext cx="1749197" cy="369332"/>
          </a:xfrm>
          <a:prstGeom prst="rect">
            <a:avLst/>
          </a:prstGeom>
          <a:noFill/>
        </p:spPr>
        <p:txBody>
          <a:bodyPr wrap="none" rtlCol="0">
            <a:spAutoFit/>
          </a:bodyPr>
          <a:lstStyle/>
          <a:p>
            <a:pPr algn="ctr"/>
            <a:r>
              <a:rPr lang="ru-RU" b="1" dirty="0" smtClean="0"/>
              <a:t>Лекция </a:t>
            </a:r>
            <a:r>
              <a:rPr lang="en-US" b="1" dirty="0" smtClean="0"/>
              <a:t>3</a:t>
            </a:r>
            <a:r>
              <a:rPr lang="ru-RU" b="1" dirty="0" smtClean="0"/>
              <a:t>. </a:t>
            </a:r>
            <a:r>
              <a:rPr lang="en-US" b="1" dirty="0" smtClean="0"/>
              <a:t>RAIM</a:t>
            </a:r>
            <a:endParaRPr lang="ru-RU" b="1" dirty="0"/>
          </a:p>
        </p:txBody>
      </p:sp>
      <p:sp>
        <p:nvSpPr>
          <p:cNvPr id="5" name="TextBox 4"/>
          <p:cNvSpPr txBox="1"/>
          <p:nvPr/>
        </p:nvSpPr>
        <p:spPr>
          <a:xfrm>
            <a:off x="3063137" y="1082380"/>
            <a:ext cx="5480860" cy="369332"/>
          </a:xfrm>
          <a:prstGeom prst="rect">
            <a:avLst/>
          </a:prstGeom>
          <a:noFill/>
        </p:spPr>
        <p:txBody>
          <a:bodyPr wrap="none" rtlCol="0">
            <a:spAutoFit/>
          </a:bodyPr>
          <a:lstStyle/>
          <a:p>
            <a:pPr algn="ctr"/>
            <a:r>
              <a:rPr lang="ru-RU" b="1" dirty="0" smtClean="0"/>
              <a:t>Инерциально-спутниковые навигационные системы</a:t>
            </a:r>
            <a:endParaRPr lang="ru-RU" b="1" dirty="0"/>
          </a:p>
        </p:txBody>
      </p:sp>
    </p:spTree>
    <p:extLst>
      <p:ext uri="{BB962C8B-B14F-4D97-AF65-F5344CB8AC3E}">
        <p14:creationId xmlns:p14="http://schemas.microsoft.com/office/powerpoint/2010/main" val="41073258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4456089" y="163860"/>
            <a:ext cx="3164521" cy="369332"/>
          </a:xfrm>
          <a:prstGeom prst="rect">
            <a:avLst/>
          </a:prstGeom>
          <a:noFill/>
        </p:spPr>
        <p:txBody>
          <a:bodyPr wrap="none" rtlCol="0">
            <a:spAutoFit/>
          </a:bodyPr>
          <a:lstStyle/>
          <a:p>
            <a:pPr algn="ctr"/>
            <a:r>
              <a:rPr lang="en-US" dirty="0" smtClean="0"/>
              <a:t>RAIM</a:t>
            </a:r>
            <a:r>
              <a:rPr lang="ru-RU" dirty="0" smtClean="0"/>
              <a:t>. Концепция целостности</a:t>
            </a:r>
            <a:endParaRPr lang="ru-RU" dirty="0"/>
          </a:p>
        </p:txBody>
      </p:sp>
      <p:sp>
        <p:nvSpPr>
          <p:cNvPr id="7" name="Овал 6"/>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p:cNvSpPr txBox="1"/>
          <p:nvPr/>
        </p:nvSpPr>
        <p:spPr>
          <a:xfrm>
            <a:off x="11623242" y="173680"/>
            <a:ext cx="301686" cy="369332"/>
          </a:xfrm>
          <a:prstGeom prst="rect">
            <a:avLst/>
          </a:prstGeom>
          <a:noFill/>
        </p:spPr>
        <p:txBody>
          <a:bodyPr wrap="none" rtlCol="0">
            <a:spAutoFit/>
          </a:bodyPr>
          <a:lstStyle/>
          <a:p>
            <a:pPr algn="ctr"/>
            <a:r>
              <a:rPr lang="ru-RU" dirty="0"/>
              <a:t>2</a:t>
            </a:r>
          </a:p>
        </p:txBody>
      </p:sp>
      <p:sp>
        <p:nvSpPr>
          <p:cNvPr id="2" name="Прямоугольник 1"/>
          <p:cNvSpPr/>
          <p:nvPr/>
        </p:nvSpPr>
        <p:spPr>
          <a:xfrm>
            <a:off x="461319" y="543012"/>
            <a:ext cx="11463609" cy="2956066"/>
          </a:xfrm>
          <a:prstGeom prst="rect">
            <a:avLst/>
          </a:prstGeom>
        </p:spPr>
        <p:txBody>
          <a:bodyPr wrap="square">
            <a:spAutoFit/>
          </a:bodyPr>
          <a:lstStyle/>
          <a:p>
            <a:pPr>
              <a:lnSpc>
                <a:spcPct val="150000"/>
              </a:lnSpc>
            </a:pPr>
            <a:r>
              <a:rPr lang="ru-RU" dirty="0">
                <a:solidFill>
                  <a:srgbClr val="0F1115"/>
                </a:solidFill>
                <a:latin typeface="quote-cjk-patch"/>
              </a:rPr>
              <a:t>В этом разделе мы кратко рассматриваем основные определения </a:t>
            </a:r>
            <a:r>
              <a:rPr lang="ru-RU" i="1" dirty="0" smtClean="0">
                <a:solidFill>
                  <a:srgbClr val="0F1115"/>
                </a:solidFill>
                <a:latin typeface="quote-cjk-patch"/>
              </a:rPr>
              <a:t>целостности</a:t>
            </a:r>
            <a:r>
              <a:rPr lang="ru-RU" dirty="0" smtClean="0">
                <a:solidFill>
                  <a:srgbClr val="0F1115"/>
                </a:solidFill>
                <a:latin typeface="quote-cjk-patch"/>
              </a:rPr>
              <a:t>. </a:t>
            </a:r>
            <a:r>
              <a:rPr lang="ru-RU" dirty="0">
                <a:solidFill>
                  <a:srgbClr val="0F1115"/>
                </a:solidFill>
                <a:latin typeface="quote-cjk-patch"/>
              </a:rPr>
              <a:t>Концепция целостности впервые была введена гражданской авиационной промышленностью для количественной оценки требований к безопасности </a:t>
            </a:r>
            <a:r>
              <a:rPr lang="ru-RU" dirty="0" smtClean="0">
                <a:solidFill>
                  <a:srgbClr val="0F1115"/>
                </a:solidFill>
                <a:latin typeface="quote-cjk-patch"/>
              </a:rPr>
              <a:t>определения местоположения. </a:t>
            </a:r>
            <a:r>
              <a:rPr lang="ru-RU" dirty="0">
                <a:solidFill>
                  <a:srgbClr val="0F1115"/>
                </a:solidFill>
                <a:latin typeface="quote-cjk-patch"/>
              </a:rPr>
              <a:t>Целостность — это мера доверия, которое может быть возложено на выходные данные навигационной системы, что отражается вероятностью, определяемой как </a:t>
            </a:r>
            <a:r>
              <a:rPr lang="ru-RU" i="1" dirty="0">
                <a:solidFill>
                  <a:srgbClr val="0F1115"/>
                </a:solidFill>
                <a:latin typeface="quote-cjk-patch"/>
              </a:rPr>
              <a:t>риск нарушения целостности</a:t>
            </a:r>
            <a:r>
              <a:rPr lang="ru-RU" dirty="0">
                <a:solidFill>
                  <a:srgbClr val="0F1115"/>
                </a:solidFill>
                <a:latin typeface="quote-cjk-patch"/>
              </a:rPr>
              <a:t> (IR). Вообще говоря, риск нарушения целостности — это вероятность того, что ошибка оценки положения </a:t>
            </a:r>
            <a:r>
              <a:rPr lang="ru-RU" dirty="0" smtClean="0">
                <a:solidFill>
                  <a:srgbClr val="0F1115"/>
                </a:solidFill>
                <a:latin typeface="quote-cjk-patch"/>
              </a:rPr>
              <a:t>превышает </a:t>
            </a:r>
            <a:r>
              <a:rPr lang="ru-RU" dirty="0">
                <a:solidFill>
                  <a:srgbClr val="0F1115"/>
                </a:solidFill>
                <a:latin typeface="quote-cjk-patch"/>
              </a:rPr>
              <a:t>допустимый предел, в то время как навигационная система, однако, не осведомлена об опасной ситуации:</a:t>
            </a:r>
            <a:endParaRPr lang="ru-RU" dirty="0"/>
          </a:p>
        </p:txBody>
      </p:sp>
      <p:pic>
        <p:nvPicPr>
          <p:cNvPr id="6" name="Рисунок 5"/>
          <p:cNvPicPr>
            <a:picLocks noChangeAspect="1"/>
          </p:cNvPicPr>
          <p:nvPr/>
        </p:nvPicPr>
        <p:blipFill>
          <a:blip r:embed="rId3"/>
          <a:stretch>
            <a:fillRect/>
          </a:stretch>
        </p:blipFill>
        <p:spPr>
          <a:xfrm>
            <a:off x="3538795" y="3499078"/>
            <a:ext cx="4753541" cy="625858"/>
          </a:xfrm>
          <a:prstGeom prst="rect">
            <a:avLst/>
          </a:prstGeom>
        </p:spPr>
      </p:pic>
      <p:sp>
        <p:nvSpPr>
          <p:cNvPr id="9" name="Прямоугольник 8"/>
          <p:cNvSpPr/>
          <p:nvPr/>
        </p:nvSpPr>
        <p:spPr>
          <a:xfrm>
            <a:off x="583155" y="4096849"/>
            <a:ext cx="11219935" cy="2585323"/>
          </a:xfrm>
          <a:prstGeom prst="rect">
            <a:avLst/>
          </a:prstGeom>
        </p:spPr>
        <p:txBody>
          <a:bodyPr wrap="square">
            <a:spAutoFit/>
          </a:bodyPr>
          <a:lstStyle/>
          <a:p>
            <a:pPr>
              <a:lnSpc>
                <a:spcPct val="150000"/>
              </a:lnSpc>
            </a:pPr>
            <a:r>
              <a:rPr lang="ru-RU" dirty="0">
                <a:solidFill>
                  <a:srgbClr val="0F1115"/>
                </a:solidFill>
                <a:latin typeface="quote-cjk-patch"/>
              </a:rPr>
              <a:t>где </a:t>
            </a:r>
            <a:r>
              <a:rPr lang="ru-RU" dirty="0" smtClean="0">
                <a:solidFill>
                  <a:srgbClr val="0F1115"/>
                </a:solidFill>
                <a:latin typeface="KaTeX_Main"/>
              </a:rPr>
              <a:t>∥⋅∥</a:t>
            </a:r>
            <a:r>
              <a:rPr lang="ru-RU" dirty="0">
                <a:solidFill>
                  <a:srgbClr val="0F1115"/>
                </a:solidFill>
                <a:latin typeface="quote-cjk-patch"/>
              </a:rPr>
              <a:t> обозначает метрику ошибки позиционирования, а AL обозначает предел оповещения (AL), который определяется как максимально допустимая ошибка в метрическом пространстве. AL обычно определяется в соответствии с эксплуатационными требованиями конкретного применения. Например, предположим, что метрика ошибки установлена как абсолютная горизонтальная и вертикальная ошибка положения для гражданской авиационной </a:t>
            </a:r>
            <a:r>
              <a:rPr lang="ru-RU" dirty="0" smtClean="0">
                <a:solidFill>
                  <a:srgbClr val="0F1115"/>
                </a:solidFill>
                <a:latin typeface="quote-cjk-patch"/>
              </a:rPr>
              <a:t>посадки. </a:t>
            </a:r>
            <a:r>
              <a:rPr lang="ru-RU" dirty="0">
                <a:solidFill>
                  <a:srgbClr val="0F1115"/>
                </a:solidFill>
                <a:latin typeface="quote-cjk-patch"/>
              </a:rPr>
              <a:t>Для автомобильных применений, таких как автономное вождение, AL должен быть значительно более строгим.</a:t>
            </a:r>
            <a:endParaRPr lang="ru-RU" dirty="0"/>
          </a:p>
        </p:txBody>
      </p:sp>
    </p:spTree>
    <p:extLst>
      <p:ext uri="{BB962C8B-B14F-4D97-AF65-F5344CB8AC3E}">
        <p14:creationId xmlns:p14="http://schemas.microsoft.com/office/powerpoint/2010/main" val="298936084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4456074" y="163860"/>
            <a:ext cx="3164520" cy="369332"/>
          </a:xfrm>
          <a:prstGeom prst="rect">
            <a:avLst/>
          </a:prstGeom>
          <a:noFill/>
        </p:spPr>
        <p:txBody>
          <a:bodyPr wrap="none" rtlCol="0">
            <a:spAutoFit/>
          </a:bodyPr>
          <a:lstStyle/>
          <a:p>
            <a:pPr algn="ctr"/>
            <a:r>
              <a:rPr lang="en-US" dirty="0"/>
              <a:t>RAIM</a:t>
            </a:r>
            <a:r>
              <a:rPr lang="ru-RU" dirty="0"/>
              <a:t>. Концепция целостности</a:t>
            </a:r>
            <a:endParaRPr lang="ru-RU" dirty="0"/>
          </a:p>
        </p:txBody>
      </p:sp>
      <p:sp>
        <p:nvSpPr>
          <p:cNvPr id="7" name="Овал 6"/>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p:cNvSpPr txBox="1"/>
          <p:nvPr/>
        </p:nvSpPr>
        <p:spPr>
          <a:xfrm>
            <a:off x="11623242" y="173680"/>
            <a:ext cx="301686" cy="369332"/>
          </a:xfrm>
          <a:prstGeom prst="rect">
            <a:avLst/>
          </a:prstGeom>
          <a:noFill/>
        </p:spPr>
        <p:txBody>
          <a:bodyPr wrap="none" rtlCol="0">
            <a:spAutoFit/>
          </a:bodyPr>
          <a:lstStyle/>
          <a:p>
            <a:pPr algn="ctr"/>
            <a:r>
              <a:rPr lang="ru-RU" dirty="0" smtClean="0"/>
              <a:t>3</a:t>
            </a:r>
            <a:endParaRPr lang="ru-RU" dirty="0"/>
          </a:p>
        </p:txBody>
      </p:sp>
      <p:pic>
        <p:nvPicPr>
          <p:cNvPr id="2" name="Рисунок 1"/>
          <p:cNvPicPr>
            <a:picLocks noChangeAspect="1"/>
          </p:cNvPicPr>
          <p:nvPr/>
        </p:nvPicPr>
        <p:blipFill>
          <a:blip r:embed="rId3"/>
          <a:stretch>
            <a:fillRect/>
          </a:stretch>
        </p:blipFill>
        <p:spPr>
          <a:xfrm>
            <a:off x="863171" y="1002958"/>
            <a:ext cx="643581" cy="411892"/>
          </a:xfrm>
          <a:prstGeom prst="rect">
            <a:avLst/>
          </a:prstGeom>
        </p:spPr>
      </p:pic>
      <p:sp>
        <p:nvSpPr>
          <p:cNvPr id="3" name="Прямоугольник 2"/>
          <p:cNvSpPr/>
          <p:nvPr/>
        </p:nvSpPr>
        <p:spPr>
          <a:xfrm>
            <a:off x="1484253" y="928816"/>
            <a:ext cx="10289832" cy="1294072"/>
          </a:xfrm>
          <a:prstGeom prst="rect">
            <a:avLst/>
          </a:prstGeom>
        </p:spPr>
        <p:txBody>
          <a:bodyPr wrap="square">
            <a:spAutoFit/>
          </a:bodyPr>
          <a:lstStyle/>
          <a:p>
            <a:pPr>
              <a:lnSpc>
                <a:spcPct val="150000"/>
              </a:lnSpc>
            </a:pPr>
            <a:r>
              <a:rPr lang="ru-RU" dirty="0" smtClean="0">
                <a:solidFill>
                  <a:srgbClr val="0F1115"/>
                </a:solidFill>
                <a:latin typeface="quote-cjk-patch"/>
              </a:rPr>
              <a:t>- это </a:t>
            </a:r>
            <a:r>
              <a:rPr lang="ru-RU" dirty="0">
                <a:solidFill>
                  <a:srgbClr val="0F1115"/>
                </a:solidFill>
                <a:latin typeface="quote-cjk-patch"/>
              </a:rPr>
              <a:t>функция мониторинга, которая отражает оценку навигационной системой ошибки оценивания. Функциональная навигационная система для критически важных с точки зрения безопасности применений должна гарантировать, что</a:t>
            </a:r>
            <a:endParaRPr lang="ru-RU" dirty="0"/>
          </a:p>
        </p:txBody>
      </p:sp>
      <p:pic>
        <p:nvPicPr>
          <p:cNvPr id="9" name="Рисунок 8"/>
          <p:cNvPicPr>
            <a:picLocks noChangeAspect="1"/>
          </p:cNvPicPr>
          <p:nvPr/>
        </p:nvPicPr>
        <p:blipFill>
          <a:blip r:embed="rId4"/>
          <a:stretch>
            <a:fillRect/>
          </a:stretch>
        </p:blipFill>
        <p:spPr>
          <a:xfrm>
            <a:off x="4190580" y="554763"/>
            <a:ext cx="3695507" cy="486556"/>
          </a:xfrm>
          <a:prstGeom prst="rect">
            <a:avLst/>
          </a:prstGeom>
        </p:spPr>
      </p:pic>
      <p:pic>
        <p:nvPicPr>
          <p:cNvPr id="5" name="Рисунок 4"/>
          <p:cNvPicPr>
            <a:picLocks noChangeAspect="1"/>
          </p:cNvPicPr>
          <p:nvPr/>
        </p:nvPicPr>
        <p:blipFill>
          <a:blip r:embed="rId5"/>
          <a:stretch>
            <a:fillRect/>
          </a:stretch>
        </p:blipFill>
        <p:spPr>
          <a:xfrm>
            <a:off x="7429627" y="1795848"/>
            <a:ext cx="2303411" cy="418802"/>
          </a:xfrm>
          <a:prstGeom prst="rect">
            <a:avLst/>
          </a:prstGeom>
        </p:spPr>
      </p:pic>
      <p:sp>
        <p:nvSpPr>
          <p:cNvPr id="10" name="Прямоугольник 9"/>
          <p:cNvSpPr/>
          <p:nvPr/>
        </p:nvSpPr>
        <p:spPr>
          <a:xfrm>
            <a:off x="1515414" y="2155902"/>
            <a:ext cx="10107828" cy="2585323"/>
          </a:xfrm>
          <a:prstGeom prst="rect">
            <a:avLst/>
          </a:prstGeom>
        </p:spPr>
        <p:txBody>
          <a:bodyPr wrap="square">
            <a:spAutoFit/>
          </a:bodyPr>
          <a:lstStyle/>
          <a:p>
            <a:pPr>
              <a:lnSpc>
                <a:spcPct val="150000"/>
              </a:lnSpc>
            </a:pPr>
            <a:r>
              <a:rPr lang="ru-RU" dirty="0">
                <a:solidFill>
                  <a:srgbClr val="0F1115"/>
                </a:solidFill>
                <a:latin typeface="quote-cjk-patch"/>
              </a:rPr>
              <a:t>представляет собой требования к максимальному риску нарушения </a:t>
            </a:r>
            <a:r>
              <a:rPr lang="ru-RU" dirty="0" smtClean="0">
                <a:solidFill>
                  <a:srgbClr val="0F1115"/>
                </a:solidFill>
                <a:latin typeface="quote-cjk-patch"/>
              </a:rPr>
              <a:t>для </a:t>
            </a:r>
            <a:r>
              <a:rPr lang="ru-RU" dirty="0">
                <a:solidFill>
                  <a:srgbClr val="0F1115"/>
                </a:solidFill>
                <a:latin typeface="quote-cjk-patch"/>
              </a:rPr>
              <a:t>различных применений. Рисковые события нарушения целостности происходят на практике, поскольку обычно системные модели и модели ошибок не известны идеально, и навигационные алгоритмы обычно оптимизированы для конкретных типов ошибок, например, основанных на предположении о </a:t>
            </a:r>
            <a:r>
              <a:rPr lang="ru-RU" dirty="0" err="1">
                <a:solidFill>
                  <a:srgbClr val="0F1115"/>
                </a:solidFill>
                <a:latin typeface="quote-cjk-patch"/>
              </a:rPr>
              <a:t>гауссовском</a:t>
            </a:r>
            <a:r>
              <a:rPr lang="ru-RU" dirty="0">
                <a:solidFill>
                  <a:srgbClr val="0F1115"/>
                </a:solidFill>
                <a:latin typeface="quote-cjk-patch"/>
              </a:rPr>
              <a:t> шуме. Тщательная разработка функции мониторинга важна для навигационной системы, чтобы снизить риск нарушения целостности.</a:t>
            </a:r>
            <a:endParaRPr lang="ru-RU" dirty="0"/>
          </a:p>
        </p:txBody>
      </p:sp>
      <p:sp>
        <p:nvSpPr>
          <p:cNvPr id="11" name="Прямоугольник 10"/>
          <p:cNvSpPr/>
          <p:nvPr/>
        </p:nvSpPr>
        <p:spPr>
          <a:xfrm>
            <a:off x="1484254" y="4675321"/>
            <a:ext cx="10440674" cy="1754326"/>
          </a:xfrm>
          <a:prstGeom prst="rect">
            <a:avLst/>
          </a:prstGeom>
        </p:spPr>
        <p:txBody>
          <a:bodyPr wrap="square">
            <a:spAutoFit/>
          </a:bodyPr>
          <a:lstStyle/>
          <a:p>
            <a:pPr>
              <a:lnSpc>
                <a:spcPct val="150000"/>
              </a:lnSpc>
            </a:pPr>
            <a:r>
              <a:rPr lang="ru-RU" dirty="0">
                <a:solidFill>
                  <a:srgbClr val="0F1115"/>
                </a:solidFill>
                <a:latin typeface="quote-cjk-patch"/>
              </a:rPr>
              <a:t>Чтобы избежать отказов целостности, исследовательское сообщество </a:t>
            </a:r>
            <a:r>
              <a:rPr lang="ru-RU" dirty="0" smtClean="0">
                <a:solidFill>
                  <a:srgbClr val="0F1115"/>
                </a:solidFill>
                <a:latin typeface="quote-cjk-patch"/>
              </a:rPr>
              <a:t>ГНСС </a:t>
            </a:r>
            <a:r>
              <a:rPr lang="ru-RU" dirty="0">
                <a:solidFill>
                  <a:srgbClr val="0F1115"/>
                </a:solidFill>
                <a:latin typeface="quote-cjk-patch"/>
              </a:rPr>
              <a:t>и авиационная промышленность разрабатывали методы мониторинга целостности на протяжении последних десятилетий. </a:t>
            </a:r>
            <a:r>
              <a:rPr lang="ru-RU" dirty="0" smtClean="0">
                <a:solidFill>
                  <a:srgbClr val="0F1115"/>
                </a:solidFill>
                <a:latin typeface="quote-cjk-patch"/>
              </a:rPr>
              <a:t>Алгоритмы мониторинга </a:t>
            </a:r>
            <a:r>
              <a:rPr lang="ru-RU" dirty="0">
                <a:solidFill>
                  <a:srgbClr val="0F1115"/>
                </a:solidFill>
                <a:latin typeface="quote-cjk-patch"/>
              </a:rPr>
              <a:t>целостности вычисляет в реальном времени консервативную функцию мониторинга как уровень защиты </a:t>
            </a:r>
            <a:endParaRPr lang="ru-RU" dirty="0"/>
          </a:p>
        </p:txBody>
      </p:sp>
      <p:pic>
        <p:nvPicPr>
          <p:cNvPr id="12" name="Рисунок 11"/>
          <p:cNvPicPr>
            <a:picLocks noChangeAspect="1"/>
          </p:cNvPicPr>
          <p:nvPr/>
        </p:nvPicPr>
        <p:blipFill>
          <a:blip r:embed="rId6"/>
          <a:stretch>
            <a:fillRect/>
          </a:stretch>
        </p:blipFill>
        <p:spPr>
          <a:xfrm>
            <a:off x="8089554" y="5914767"/>
            <a:ext cx="1949471" cy="450997"/>
          </a:xfrm>
          <a:prstGeom prst="rect">
            <a:avLst/>
          </a:prstGeom>
        </p:spPr>
      </p:pic>
    </p:spTree>
    <p:extLst>
      <p:ext uri="{BB962C8B-B14F-4D97-AF65-F5344CB8AC3E}">
        <p14:creationId xmlns:p14="http://schemas.microsoft.com/office/powerpoint/2010/main" val="392919274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623242" y="173680"/>
            <a:ext cx="301686" cy="369332"/>
          </a:xfrm>
          <a:prstGeom prst="rect">
            <a:avLst/>
          </a:prstGeom>
          <a:noFill/>
        </p:spPr>
        <p:txBody>
          <a:bodyPr wrap="none" rtlCol="0">
            <a:spAutoFit/>
          </a:bodyPr>
          <a:lstStyle/>
          <a:p>
            <a:pPr algn="ctr"/>
            <a:r>
              <a:rPr lang="en-US" dirty="0"/>
              <a:t>4</a:t>
            </a:r>
            <a:endParaRPr lang="ru-RU" dirty="0"/>
          </a:p>
        </p:txBody>
      </p:sp>
      <p:sp>
        <p:nvSpPr>
          <p:cNvPr id="8" name="TextBox 7"/>
          <p:cNvSpPr txBox="1"/>
          <p:nvPr/>
        </p:nvSpPr>
        <p:spPr>
          <a:xfrm>
            <a:off x="4456074" y="163860"/>
            <a:ext cx="3164520" cy="369332"/>
          </a:xfrm>
          <a:prstGeom prst="rect">
            <a:avLst/>
          </a:prstGeom>
          <a:noFill/>
        </p:spPr>
        <p:txBody>
          <a:bodyPr wrap="none" rtlCol="0">
            <a:spAutoFit/>
          </a:bodyPr>
          <a:lstStyle/>
          <a:p>
            <a:pPr algn="ctr"/>
            <a:r>
              <a:rPr lang="en-US" dirty="0"/>
              <a:t>RAIM</a:t>
            </a:r>
            <a:r>
              <a:rPr lang="ru-RU" dirty="0"/>
              <a:t>. Концепция целостности</a:t>
            </a:r>
            <a:endParaRPr lang="ru-RU" dirty="0"/>
          </a:p>
        </p:txBody>
      </p:sp>
      <p:pic>
        <p:nvPicPr>
          <p:cNvPr id="9" name="Рисунок 8"/>
          <p:cNvPicPr>
            <a:picLocks noChangeAspect="1"/>
          </p:cNvPicPr>
          <p:nvPr/>
        </p:nvPicPr>
        <p:blipFill>
          <a:blip r:embed="rId2"/>
          <a:stretch>
            <a:fillRect/>
          </a:stretch>
        </p:blipFill>
        <p:spPr>
          <a:xfrm>
            <a:off x="4190580" y="554763"/>
            <a:ext cx="3695507" cy="486556"/>
          </a:xfrm>
          <a:prstGeom prst="rect">
            <a:avLst/>
          </a:prstGeom>
        </p:spPr>
      </p:pic>
      <p:pic>
        <p:nvPicPr>
          <p:cNvPr id="2" name="Рисунок 1"/>
          <p:cNvPicPr>
            <a:picLocks noChangeAspect="1"/>
          </p:cNvPicPr>
          <p:nvPr/>
        </p:nvPicPr>
        <p:blipFill>
          <a:blip r:embed="rId3"/>
          <a:stretch>
            <a:fillRect/>
          </a:stretch>
        </p:blipFill>
        <p:spPr>
          <a:xfrm>
            <a:off x="1082832" y="1090748"/>
            <a:ext cx="367029" cy="451728"/>
          </a:xfrm>
          <a:prstGeom prst="rect">
            <a:avLst/>
          </a:prstGeom>
        </p:spPr>
      </p:pic>
      <p:sp>
        <p:nvSpPr>
          <p:cNvPr id="3" name="Прямоугольник 2"/>
          <p:cNvSpPr/>
          <p:nvPr/>
        </p:nvSpPr>
        <p:spPr>
          <a:xfrm>
            <a:off x="794763" y="1041319"/>
            <a:ext cx="11191760" cy="1338828"/>
          </a:xfrm>
          <a:prstGeom prst="rect">
            <a:avLst/>
          </a:prstGeom>
        </p:spPr>
        <p:txBody>
          <a:bodyPr wrap="square">
            <a:spAutoFit/>
          </a:bodyPr>
          <a:lstStyle/>
          <a:p>
            <a:pPr>
              <a:lnSpc>
                <a:spcPct val="150000"/>
              </a:lnSpc>
            </a:pPr>
            <a:r>
              <a:rPr lang="ru-RU" dirty="0" smtClean="0">
                <a:solidFill>
                  <a:srgbClr val="0F1115"/>
                </a:solidFill>
                <a:latin typeface="quote-cjk-patch"/>
              </a:rPr>
              <a:t>          зависит </a:t>
            </a:r>
            <a:r>
              <a:rPr lang="ru-RU" dirty="0">
                <a:solidFill>
                  <a:srgbClr val="0F1115"/>
                </a:solidFill>
                <a:latin typeface="quote-cjk-patch"/>
              </a:rPr>
              <a:t>от уравнения измерений в точке оценки, а также от требований к непрерывности и доступности. Он описывает ошибку наихудшего случая, распространяющуюся на область положения, при условии, что требования к непрерывности и доступности выполнены. В идеале</a:t>
            </a:r>
            <a:endParaRPr lang="ru-RU" dirty="0"/>
          </a:p>
        </p:txBody>
      </p:sp>
      <p:pic>
        <p:nvPicPr>
          <p:cNvPr id="10" name="Рисунок 9"/>
          <p:cNvPicPr>
            <a:picLocks noChangeAspect="1"/>
          </p:cNvPicPr>
          <p:nvPr/>
        </p:nvPicPr>
        <p:blipFill>
          <a:blip r:embed="rId3"/>
          <a:stretch>
            <a:fillRect/>
          </a:stretch>
        </p:blipFill>
        <p:spPr>
          <a:xfrm>
            <a:off x="9884961" y="1911943"/>
            <a:ext cx="367029" cy="451728"/>
          </a:xfrm>
          <a:prstGeom prst="rect">
            <a:avLst/>
          </a:prstGeom>
        </p:spPr>
      </p:pic>
      <p:sp>
        <p:nvSpPr>
          <p:cNvPr id="11" name="Прямоугольник 10"/>
          <p:cNvSpPr/>
          <p:nvPr/>
        </p:nvSpPr>
        <p:spPr>
          <a:xfrm>
            <a:off x="794763" y="2363671"/>
            <a:ext cx="8081319" cy="369332"/>
          </a:xfrm>
          <a:prstGeom prst="rect">
            <a:avLst/>
          </a:prstGeom>
        </p:spPr>
        <p:txBody>
          <a:bodyPr wrap="square">
            <a:spAutoFit/>
          </a:bodyPr>
          <a:lstStyle/>
          <a:p>
            <a:r>
              <a:rPr lang="ru-RU" dirty="0" smtClean="0">
                <a:solidFill>
                  <a:srgbClr val="0F1115"/>
                </a:solidFill>
                <a:latin typeface="quote-cjk-patch"/>
              </a:rPr>
              <a:t>должен </a:t>
            </a:r>
            <a:r>
              <a:rPr lang="ru-RU" dirty="0">
                <a:solidFill>
                  <a:srgbClr val="0F1115"/>
                </a:solidFill>
                <a:latin typeface="quote-cjk-patch"/>
              </a:rPr>
              <a:t>быть верхней границей контролируемой ошибки</a:t>
            </a:r>
            <a:endParaRPr lang="ru-RU" dirty="0"/>
          </a:p>
        </p:txBody>
      </p:sp>
      <p:pic>
        <p:nvPicPr>
          <p:cNvPr id="12" name="Рисунок 11"/>
          <p:cNvPicPr>
            <a:picLocks noChangeAspect="1"/>
          </p:cNvPicPr>
          <p:nvPr/>
        </p:nvPicPr>
        <p:blipFill>
          <a:blip r:embed="rId4"/>
          <a:stretch>
            <a:fillRect/>
          </a:stretch>
        </p:blipFill>
        <p:spPr>
          <a:xfrm>
            <a:off x="6998300" y="2292385"/>
            <a:ext cx="999640" cy="528381"/>
          </a:xfrm>
          <a:prstGeom prst="rect">
            <a:avLst/>
          </a:prstGeom>
        </p:spPr>
      </p:pic>
      <p:sp>
        <p:nvSpPr>
          <p:cNvPr id="13" name="Прямоугольник 12"/>
          <p:cNvSpPr/>
          <p:nvPr/>
        </p:nvSpPr>
        <p:spPr>
          <a:xfrm>
            <a:off x="794763" y="2733003"/>
            <a:ext cx="4838087" cy="369332"/>
          </a:xfrm>
          <a:prstGeom prst="rect">
            <a:avLst/>
          </a:prstGeom>
        </p:spPr>
        <p:txBody>
          <a:bodyPr wrap="square">
            <a:spAutoFit/>
          </a:bodyPr>
          <a:lstStyle/>
          <a:p>
            <a:r>
              <a:rPr lang="ru-RU" dirty="0" smtClean="0">
                <a:solidFill>
                  <a:srgbClr val="0F1115"/>
                </a:solidFill>
                <a:latin typeface="quote-cjk-patch"/>
              </a:rPr>
              <a:t>от </a:t>
            </a:r>
            <a:r>
              <a:rPr lang="ru-RU" dirty="0">
                <a:solidFill>
                  <a:srgbClr val="0F1115"/>
                </a:solidFill>
                <a:latin typeface="quote-cjk-patch"/>
              </a:rPr>
              <a:t>различных значимых режимов отказов.</a:t>
            </a:r>
            <a:endParaRPr lang="ru-RU" dirty="0"/>
          </a:p>
        </p:txBody>
      </p:sp>
      <p:sp>
        <p:nvSpPr>
          <p:cNvPr id="14" name="Прямоугольник 13"/>
          <p:cNvSpPr/>
          <p:nvPr/>
        </p:nvSpPr>
        <p:spPr>
          <a:xfrm>
            <a:off x="7981924" y="2338853"/>
            <a:ext cx="3497817" cy="369332"/>
          </a:xfrm>
          <a:prstGeom prst="rect">
            <a:avLst/>
          </a:prstGeom>
        </p:spPr>
        <p:txBody>
          <a:bodyPr wrap="none">
            <a:spAutoFit/>
          </a:bodyPr>
          <a:lstStyle/>
          <a:p>
            <a:r>
              <a:rPr lang="ru-RU" dirty="0">
                <a:solidFill>
                  <a:srgbClr val="0F1115"/>
                </a:solidFill>
                <a:latin typeface="quote-cjk-patch"/>
              </a:rPr>
              <a:t>путем моделирования ошибки </a:t>
            </a:r>
            <a:endParaRPr lang="ru-RU" dirty="0"/>
          </a:p>
        </p:txBody>
      </p:sp>
      <p:sp>
        <p:nvSpPr>
          <p:cNvPr id="15" name="Прямоугольник 14"/>
          <p:cNvSpPr/>
          <p:nvPr/>
        </p:nvSpPr>
        <p:spPr>
          <a:xfrm>
            <a:off x="760441" y="3085859"/>
            <a:ext cx="11021880" cy="2540567"/>
          </a:xfrm>
          <a:prstGeom prst="rect">
            <a:avLst/>
          </a:prstGeom>
        </p:spPr>
        <p:txBody>
          <a:bodyPr wrap="square">
            <a:spAutoFit/>
          </a:bodyPr>
          <a:lstStyle/>
          <a:p>
            <a:pPr>
              <a:lnSpc>
                <a:spcPct val="150000"/>
              </a:lnSpc>
            </a:pPr>
            <a:r>
              <a:rPr lang="ru-RU" dirty="0">
                <a:solidFill>
                  <a:srgbClr val="0F1115"/>
                </a:solidFill>
                <a:latin typeface="quote-cjk-patch"/>
              </a:rPr>
              <a:t>Когда PL ≤ AL, система работает номинально, при условии консервативности при вычислении PL. Если PL &gt; AL, система инициирует предупреждение в течение требуемого времени (определяемого как время до предупреждения), чтобы транспортное средство могло предпринять действие (например, пометить навигационную систему как недоступную или изменить режим работы) до того, как возникнет опасная ситуация. Из-за «длинного хвоста» распределений ошибок в реальных условиях существует более высокая вероятность того, что PL окажется меньше фактической</a:t>
            </a:r>
            <a:endParaRPr lang="ru-RU" dirty="0"/>
          </a:p>
        </p:txBody>
      </p:sp>
      <p:pic>
        <p:nvPicPr>
          <p:cNvPr id="16" name="Рисунок 15"/>
          <p:cNvPicPr>
            <a:picLocks noChangeAspect="1"/>
          </p:cNvPicPr>
          <p:nvPr/>
        </p:nvPicPr>
        <p:blipFill>
          <a:blip r:embed="rId5"/>
          <a:stretch>
            <a:fillRect/>
          </a:stretch>
        </p:blipFill>
        <p:spPr>
          <a:xfrm>
            <a:off x="4087745" y="5746094"/>
            <a:ext cx="1822896" cy="504802"/>
          </a:xfrm>
          <a:prstGeom prst="rect">
            <a:avLst/>
          </a:prstGeom>
        </p:spPr>
      </p:pic>
      <p:pic>
        <p:nvPicPr>
          <p:cNvPr id="17" name="Рисунок 16"/>
          <p:cNvPicPr>
            <a:picLocks noChangeAspect="1"/>
          </p:cNvPicPr>
          <p:nvPr/>
        </p:nvPicPr>
        <p:blipFill>
          <a:blip r:embed="rId6"/>
          <a:stretch>
            <a:fillRect/>
          </a:stretch>
        </p:blipFill>
        <p:spPr>
          <a:xfrm>
            <a:off x="5902403" y="5729617"/>
            <a:ext cx="1188758" cy="602521"/>
          </a:xfrm>
          <a:prstGeom prst="rect">
            <a:avLst/>
          </a:prstGeom>
        </p:spPr>
      </p:pic>
    </p:spTree>
    <p:extLst>
      <p:ext uri="{BB962C8B-B14F-4D97-AF65-F5344CB8AC3E}">
        <p14:creationId xmlns:p14="http://schemas.microsoft.com/office/powerpoint/2010/main" val="4134832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ChangeArrowheads="1"/>
          </p:cNvSpPr>
          <p:nvPr/>
        </p:nvSpPr>
        <p:spPr bwMode="auto">
          <a:xfrm>
            <a:off x="4819135" y="232307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sp>
        <p:nvSpPr>
          <p:cNvPr id="13" name="Овал 12"/>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TextBox 13"/>
          <p:cNvSpPr txBox="1"/>
          <p:nvPr/>
        </p:nvSpPr>
        <p:spPr>
          <a:xfrm>
            <a:off x="11623242" y="173680"/>
            <a:ext cx="301686" cy="369332"/>
          </a:xfrm>
          <a:prstGeom prst="rect">
            <a:avLst/>
          </a:prstGeom>
          <a:noFill/>
        </p:spPr>
        <p:txBody>
          <a:bodyPr wrap="none" rtlCol="0">
            <a:spAutoFit/>
          </a:bodyPr>
          <a:lstStyle/>
          <a:p>
            <a:pPr algn="ctr"/>
            <a:r>
              <a:rPr lang="en-US" dirty="0"/>
              <a:t>5</a:t>
            </a:r>
            <a:endParaRPr lang="ru-RU" dirty="0"/>
          </a:p>
        </p:txBody>
      </p:sp>
      <p:sp>
        <p:nvSpPr>
          <p:cNvPr id="7" name="TextBox 6"/>
          <p:cNvSpPr txBox="1"/>
          <p:nvPr/>
        </p:nvSpPr>
        <p:spPr>
          <a:xfrm>
            <a:off x="4456074" y="163860"/>
            <a:ext cx="3164520" cy="369332"/>
          </a:xfrm>
          <a:prstGeom prst="rect">
            <a:avLst/>
          </a:prstGeom>
          <a:noFill/>
        </p:spPr>
        <p:txBody>
          <a:bodyPr wrap="none" rtlCol="0">
            <a:spAutoFit/>
          </a:bodyPr>
          <a:lstStyle/>
          <a:p>
            <a:pPr algn="ctr"/>
            <a:r>
              <a:rPr lang="en-US" dirty="0"/>
              <a:t>RAIM</a:t>
            </a:r>
            <a:r>
              <a:rPr lang="ru-RU" dirty="0"/>
              <a:t>. Концепция целостности</a:t>
            </a:r>
            <a:endParaRPr lang="ru-RU" dirty="0"/>
          </a:p>
        </p:txBody>
      </p:sp>
      <p:pic>
        <p:nvPicPr>
          <p:cNvPr id="9" name="Рисунок 8"/>
          <p:cNvPicPr>
            <a:picLocks noChangeAspect="1"/>
          </p:cNvPicPr>
          <p:nvPr/>
        </p:nvPicPr>
        <p:blipFill>
          <a:blip r:embed="rId2"/>
          <a:stretch>
            <a:fillRect/>
          </a:stretch>
        </p:blipFill>
        <p:spPr>
          <a:xfrm>
            <a:off x="4190580" y="554763"/>
            <a:ext cx="3695507" cy="486556"/>
          </a:xfrm>
          <a:prstGeom prst="rect">
            <a:avLst/>
          </a:prstGeom>
        </p:spPr>
      </p:pic>
      <p:sp>
        <p:nvSpPr>
          <p:cNvPr id="3" name="Прямоугольник 2"/>
          <p:cNvSpPr/>
          <p:nvPr/>
        </p:nvSpPr>
        <p:spPr>
          <a:xfrm>
            <a:off x="833922" y="1062890"/>
            <a:ext cx="10995613" cy="2169825"/>
          </a:xfrm>
          <a:prstGeom prst="rect">
            <a:avLst/>
          </a:prstGeom>
        </p:spPr>
        <p:txBody>
          <a:bodyPr wrap="square">
            <a:spAutoFit/>
          </a:bodyPr>
          <a:lstStyle/>
          <a:p>
            <a:pPr>
              <a:lnSpc>
                <a:spcPct val="150000"/>
              </a:lnSpc>
            </a:pPr>
            <a:r>
              <a:rPr lang="ru-RU" dirty="0">
                <a:solidFill>
                  <a:srgbClr val="0F1115"/>
                </a:solidFill>
                <a:latin typeface="quote-cjk-patch"/>
              </a:rPr>
              <a:t>В худшем случае, если </a:t>
            </a:r>
            <a:r>
              <a:rPr lang="ru-RU" dirty="0" smtClean="0">
                <a:solidFill>
                  <a:srgbClr val="0F1115"/>
                </a:solidFill>
                <a:latin typeface="quote-cjk-patch"/>
              </a:rPr>
              <a:t>алгоритм </a:t>
            </a:r>
            <a:r>
              <a:rPr lang="ru-RU" dirty="0">
                <a:solidFill>
                  <a:srgbClr val="0F1115"/>
                </a:solidFill>
                <a:latin typeface="quote-cjk-patch"/>
              </a:rPr>
              <a:t>предоставляет вводящую в заблуждение информацию, и фактическая ошибка превысила предел оповещения, это приводит к так называемому событию </a:t>
            </a:r>
            <a:r>
              <a:rPr lang="ru-RU" b="1" dirty="0">
                <a:solidFill>
                  <a:srgbClr val="0F1115"/>
                </a:solidFill>
                <a:latin typeface="quote-cjk-patch"/>
              </a:rPr>
              <a:t>опасной вводящей в заблуждение информации (HMI)</a:t>
            </a:r>
            <a:r>
              <a:rPr lang="ru-RU" dirty="0">
                <a:solidFill>
                  <a:srgbClr val="0F1115"/>
                </a:solidFill>
                <a:latin typeface="quote-cjk-patch"/>
              </a:rPr>
              <a:t>. При проектировании навигационного метода, критически важного для безопасности, с точки зрения целостности, безопасное решение должно обеспечивать выполнение следующего условия:</a:t>
            </a:r>
            <a:endParaRPr lang="ru-RU" dirty="0"/>
          </a:p>
        </p:txBody>
      </p:sp>
      <p:pic>
        <p:nvPicPr>
          <p:cNvPr id="5" name="Рисунок 4"/>
          <p:cNvPicPr>
            <a:picLocks noChangeAspect="1"/>
          </p:cNvPicPr>
          <p:nvPr/>
        </p:nvPicPr>
        <p:blipFill>
          <a:blip r:embed="rId3"/>
          <a:stretch>
            <a:fillRect/>
          </a:stretch>
        </p:blipFill>
        <p:spPr>
          <a:xfrm>
            <a:off x="3151358" y="3123684"/>
            <a:ext cx="5689701" cy="723385"/>
          </a:xfrm>
          <a:prstGeom prst="rect">
            <a:avLst/>
          </a:prstGeom>
        </p:spPr>
      </p:pic>
      <p:sp>
        <p:nvSpPr>
          <p:cNvPr id="6" name="Прямоугольник 5"/>
          <p:cNvSpPr/>
          <p:nvPr/>
        </p:nvSpPr>
        <p:spPr>
          <a:xfrm>
            <a:off x="691978" y="3847069"/>
            <a:ext cx="11232949" cy="1338828"/>
          </a:xfrm>
          <a:prstGeom prst="rect">
            <a:avLst/>
          </a:prstGeom>
        </p:spPr>
        <p:txBody>
          <a:bodyPr wrap="square">
            <a:spAutoFit/>
          </a:bodyPr>
          <a:lstStyle/>
          <a:p>
            <a:pPr>
              <a:lnSpc>
                <a:spcPct val="150000"/>
              </a:lnSpc>
            </a:pPr>
            <a:r>
              <a:rPr lang="ru-RU" dirty="0" smtClean="0">
                <a:solidFill>
                  <a:srgbClr val="0F1115"/>
                </a:solidFill>
                <a:latin typeface="quote-cjk-patch"/>
              </a:rPr>
              <a:t>Был </a:t>
            </a:r>
            <a:r>
              <a:rPr lang="ru-RU" dirty="0">
                <a:solidFill>
                  <a:srgbClr val="0F1115"/>
                </a:solidFill>
                <a:latin typeface="quote-cjk-patch"/>
              </a:rPr>
              <a:t>разработан инструмент под названием Диаграмма целостности </a:t>
            </a:r>
            <a:r>
              <a:rPr lang="ru-RU" dirty="0" err="1" smtClean="0">
                <a:solidFill>
                  <a:srgbClr val="0F1115"/>
                </a:solidFill>
                <a:latin typeface="quote-cjk-patch"/>
              </a:rPr>
              <a:t>Stanford</a:t>
            </a:r>
            <a:r>
              <a:rPr lang="ru-RU" dirty="0" smtClean="0">
                <a:solidFill>
                  <a:srgbClr val="0F1115"/>
                </a:solidFill>
                <a:latin typeface="quote-cjk-patch"/>
              </a:rPr>
              <a:t>-ESA (слайд 6), </a:t>
            </a:r>
            <a:r>
              <a:rPr lang="ru-RU" dirty="0">
                <a:solidFill>
                  <a:srgbClr val="0F1115"/>
                </a:solidFill>
                <a:latin typeface="quote-cjk-patch"/>
              </a:rPr>
              <a:t>чтобы продемонстрировать соотношения между ошибкой позиционирования, PL и AL, а также для удобной иллюстрации целостности тестовых данных (</a:t>
            </a:r>
            <a:r>
              <a:rPr lang="ru-RU" dirty="0" err="1">
                <a:solidFill>
                  <a:srgbClr val="0F1115"/>
                </a:solidFill>
                <a:latin typeface="quote-cjk-patch"/>
              </a:rPr>
              <a:t>Tossaint</a:t>
            </a:r>
            <a:r>
              <a:rPr lang="ru-RU" dirty="0">
                <a:solidFill>
                  <a:srgbClr val="0F1115"/>
                </a:solidFill>
                <a:latin typeface="quote-cjk-patch"/>
              </a:rPr>
              <a:t> </a:t>
            </a:r>
            <a:r>
              <a:rPr lang="ru-RU" dirty="0" err="1">
                <a:solidFill>
                  <a:srgbClr val="0F1115"/>
                </a:solidFill>
                <a:latin typeface="quote-cjk-patch"/>
              </a:rPr>
              <a:t>et</a:t>
            </a:r>
            <a:r>
              <a:rPr lang="ru-RU" dirty="0">
                <a:solidFill>
                  <a:srgbClr val="0F1115"/>
                </a:solidFill>
                <a:latin typeface="quote-cjk-patch"/>
              </a:rPr>
              <a:t> </a:t>
            </a:r>
            <a:r>
              <a:rPr lang="ru-RU" dirty="0" err="1">
                <a:solidFill>
                  <a:srgbClr val="0F1115"/>
                </a:solidFill>
                <a:latin typeface="quote-cjk-patch"/>
              </a:rPr>
              <a:t>al</a:t>
            </a:r>
            <a:r>
              <a:rPr lang="ru-RU" dirty="0">
                <a:solidFill>
                  <a:srgbClr val="0F1115"/>
                </a:solidFill>
                <a:latin typeface="quote-cjk-patch"/>
              </a:rPr>
              <a:t>., 2007).</a:t>
            </a:r>
            <a:endParaRPr lang="ru-RU" dirty="0"/>
          </a:p>
        </p:txBody>
      </p:sp>
    </p:spTree>
    <p:extLst>
      <p:ext uri="{BB962C8B-B14F-4D97-AF65-F5344CB8AC3E}">
        <p14:creationId xmlns:p14="http://schemas.microsoft.com/office/powerpoint/2010/main" val="39548367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623242" y="173680"/>
            <a:ext cx="301686" cy="369332"/>
          </a:xfrm>
          <a:prstGeom prst="rect">
            <a:avLst/>
          </a:prstGeom>
          <a:noFill/>
        </p:spPr>
        <p:txBody>
          <a:bodyPr wrap="none" rtlCol="0">
            <a:spAutoFit/>
          </a:bodyPr>
          <a:lstStyle/>
          <a:p>
            <a:pPr algn="ctr"/>
            <a:r>
              <a:rPr lang="en-US" dirty="0" smtClean="0"/>
              <a:t>6</a:t>
            </a:r>
            <a:endParaRPr lang="ru-RU" dirty="0"/>
          </a:p>
        </p:txBody>
      </p:sp>
      <p:sp>
        <p:nvSpPr>
          <p:cNvPr id="9" name="TextBox 8"/>
          <p:cNvSpPr txBox="1"/>
          <p:nvPr/>
        </p:nvSpPr>
        <p:spPr>
          <a:xfrm>
            <a:off x="3804999" y="163860"/>
            <a:ext cx="4466671" cy="369332"/>
          </a:xfrm>
          <a:prstGeom prst="rect">
            <a:avLst/>
          </a:prstGeom>
          <a:noFill/>
        </p:spPr>
        <p:txBody>
          <a:bodyPr wrap="none" rtlCol="0">
            <a:spAutoFit/>
          </a:bodyPr>
          <a:lstStyle/>
          <a:p>
            <a:pPr algn="ctr"/>
            <a:r>
              <a:rPr lang="en-US" dirty="0"/>
              <a:t>RAIM</a:t>
            </a:r>
            <a:r>
              <a:rPr lang="ru-RU" dirty="0"/>
              <a:t>. </a:t>
            </a:r>
            <a:r>
              <a:rPr lang="ru-RU" dirty="0"/>
              <a:t>Диаграмма целостности </a:t>
            </a:r>
            <a:r>
              <a:rPr lang="en-US" dirty="0"/>
              <a:t>Stanford-ESA</a:t>
            </a:r>
            <a:endParaRPr lang="ru-RU" dirty="0"/>
          </a:p>
        </p:txBody>
      </p:sp>
      <p:pic>
        <p:nvPicPr>
          <p:cNvPr id="2" name="Рисунок 1"/>
          <p:cNvPicPr>
            <a:picLocks noChangeAspect="1"/>
          </p:cNvPicPr>
          <p:nvPr/>
        </p:nvPicPr>
        <p:blipFill>
          <a:blip r:embed="rId2"/>
          <a:stretch>
            <a:fillRect/>
          </a:stretch>
        </p:blipFill>
        <p:spPr>
          <a:xfrm>
            <a:off x="2767913" y="667265"/>
            <a:ext cx="5944501" cy="5962326"/>
          </a:xfrm>
          <a:prstGeom prst="rect">
            <a:avLst/>
          </a:prstGeom>
        </p:spPr>
      </p:pic>
    </p:spTree>
    <p:extLst>
      <p:ext uri="{BB962C8B-B14F-4D97-AF65-F5344CB8AC3E}">
        <p14:creationId xmlns:p14="http://schemas.microsoft.com/office/powerpoint/2010/main" val="26356223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623242" y="173680"/>
            <a:ext cx="301686" cy="369332"/>
          </a:xfrm>
          <a:prstGeom prst="rect">
            <a:avLst/>
          </a:prstGeom>
          <a:noFill/>
        </p:spPr>
        <p:txBody>
          <a:bodyPr wrap="none" rtlCol="0">
            <a:spAutoFit/>
          </a:bodyPr>
          <a:lstStyle/>
          <a:p>
            <a:pPr algn="ctr"/>
            <a:r>
              <a:rPr lang="ru-RU" dirty="0" smtClean="0"/>
              <a:t>7</a:t>
            </a:r>
            <a:endParaRPr lang="ru-RU" dirty="0"/>
          </a:p>
        </p:txBody>
      </p:sp>
      <p:sp>
        <p:nvSpPr>
          <p:cNvPr id="9" name="TextBox 8"/>
          <p:cNvSpPr txBox="1"/>
          <p:nvPr/>
        </p:nvSpPr>
        <p:spPr>
          <a:xfrm>
            <a:off x="5453880" y="163860"/>
            <a:ext cx="1168910" cy="369332"/>
          </a:xfrm>
          <a:prstGeom prst="rect">
            <a:avLst/>
          </a:prstGeom>
          <a:noFill/>
        </p:spPr>
        <p:txBody>
          <a:bodyPr wrap="none" rtlCol="0">
            <a:spAutoFit/>
          </a:bodyPr>
          <a:lstStyle/>
          <a:p>
            <a:pPr algn="ctr"/>
            <a:r>
              <a:rPr lang="en-US" dirty="0"/>
              <a:t>RAIM</a:t>
            </a:r>
            <a:r>
              <a:rPr lang="ru-RU" dirty="0"/>
              <a:t>. </a:t>
            </a:r>
            <a:r>
              <a:rPr lang="en-US" dirty="0" smtClean="0"/>
              <a:t>FDE</a:t>
            </a:r>
            <a:endParaRPr lang="ru-RU" dirty="0"/>
          </a:p>
        </p:txBody>
      </p:sp>
      <p:sp>
        <p:nvSpPr>
          <p:cNvPr id="3" name="Прямоугольник 2"/>
          <p:cNvSpPr/>
          <p:nvPr/>
        </p:nvSpPr>
        <p:spPr>
          <a:xfrm>
            <a:off x="1070918" y="1077951"/>
            <a:ext cx="10305535" cy="1294072"/>
          </a:xfrm>
          <a:prstGeom prst="rect">
            <a:avLst/>
          </a:prstGeom>
        </p:spPr>
        <p:txBody>
          <a:bodyPr wrap="square">
            <a:spAutoFit/>
          </a:bodyPr>
          <a:lstStyle/>
          <a:p>
            <a:pPr>
              <a:lnSpc>
                <a:spcPct val="150000"/>
              </a:lnSpc>
            </a:pPr>
            <a:r>
              <a:rPr lang="ru-RU" dirty="0">
                <a:solidFill>
                  <a:srgbClr val="0F1115"/>
                </a:solidFill>
                <a:latin typeface="quote-cjk-patch"/>
              </a:rPr>
              <a:t>Помимо мониторинга ошибок, методы </a:t>
            </a:r>
            <a:r>
              <a:rPr lang="ru-RU" b="1" dirty="0">
                <a:solidFill>
                  <a:srgbClr val="0F1115"/>
                </a:solidFill>
                <a:latin typeface="quote-cjk-patch"/>
              </a:rPr>
              <a:t>обнаружения и устранения отказов (FDE)</a:t>
            </a:r>
            <a:r>
              <a:rPr lang="ru-RU" dirty="0">
                <a:solidFill>
                  <a:srgbClr val="0F1115"/>
                </a:solidFill>
                <a:latin typeface="quote-cjk-patch"/>
              </a:rPr>
              <a:t> также имеют большое значение для безопасных навигационных решений. Риск нарушения целостности после использования </a:t>
            </a:r>
            <a:r>
              <a:rPr lang="ru-RU" dirty="0" smtClean="0">
                <a:solidFill>
                  <a:srgbClr val="0F1115"/>
                </a:solidFill>
                <a:latin typeface="KaTeX_Main"/>
              </a:rPr>
              <a:t>K</a:t>
            </a:r>
            <a:r>
              <a:rPr lang="ru-RU" dirty="0">
                <a:solidFill>
                  <a:srgbClr val="0F1115"/>
                </a:solidFill>
                <a:latin typeface="quote-cjk-patch"/>
              </a:rPr>
              <a:t> различных методов FDE станет:</a:t>
            </a:r>
            <a:endParaRPr lang="ru-RU" dirty="0"/>
          </a:p>
        </p:txBody>
      </p:sp>
      <p:pic>
        <p:nvPicPr>
          <p:cNvPr id="4" name="Рисунок 3"/>
          <p:cNvPicPr>
            <a:picLocks noChangeAspect="1"/>
          </p:cNvPicPr>
          <p:nvPr/>
        </p:nvPicPr>
        <p:blipFill>
          <a:blip r:embed="rId2"/>
          <a:stretch>
            <a:fillRect/>
          </a:stretch>
        </p:blipFill>
        <p:spPr>
          <a:xfrm>
            <a:off x="2715783" y="2662579"/>
            <a:ext cx="6442566" cy="712960"/>
          </a:xfrm>
          <a:prstGeom prst="rect">
            <a:avLst/>
          </a:prstGeom>
        </p:spPr>
      </p:pic>
      <p:sp>
        <p:nvSpPr>
          <p:cNvPr id="5" name="Прямоугольник 4"/>
          <p:cNvSpPr/>
          <p:nvPr/>
        </p:nvSpPr>
        <p:spPr>
          <a:xfrm>
            <a:off x="1219199" y="3375539"/>
            <a:ext cx="9811266" cy="1754326"/>
          </a:xfrm>
          <a:prstGeom prst="rect">
            <a:avLst/>
          </a:prstGeom>
        </p:spPr>
        <p:txBody>
          <a:bodyPr wrap="square">
            <a:spAutoFit/>
          </a:bodyPr>
          <a:lstStyle/>
          <a:p>
            <a:pPr>
              <a:lnSpc>
                <a:spcPct val="150000"/>
              </a:lnSpc>
            </a:pPr>
            <a:r>
              <a:rPr lang="ru-RU" dirty="0">
                <a:solidFill>
                  <a:srgbClr val="0F1115"/>
                </a:solidFill>
                <a:latin typeface="quote-cjk-patch"/>
              </a:rPr>
              <a:t>Следует отметить, что риск нарушения целостности не всегда уменьшается при добавлении большего количества методов FDE. Неправильный подход FDE может внести дополнительные источники ошибок и соответствующий риск нарушения целостности. </a:t>
            </a:r>
            <a:endParaRPr lang="ru-RU" dirty="0"/>
          </a:p>
        </p:txBody>
      </p:sp>
    </p:spTree>
    <p:extLst>
      <p:ext uri="{BB962C8B-B14F-4D97-AF65-F5344CB8AC3E}">
        <p14:creationId xmlns:p14="http://schemas.microsoft.com/office/powerpoint/2010/main" val="13009079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623242" y="173680"/>
            <a:ext cx="301686" cy="369332"/>
          </a:xfrm>
          <a:prstGeom prst="rect">
            <a:avLst/>
          </a:prstGeom>
          <a:noFill/>
        </p:spPr>
        <p:txBody>
          <a:bodyPr wrap="none" rtlCol="0">
            <a:spAutoFit/>
          </a:bodyPr>
          <a:lstStyle/>
          <a:p>
            <a:pPr algn="ctr"/>
            <a:r>
              <a:rPr lang="en-US" dirty="0" smtClean="0"/>
              <a:t>8</a:t>
            </a:r>
            <a:endParaRPr lang="ru-RU" dirty="0"/>
          </a:p>
        </p:txBody>
      </p:sp>
      <p:sp>
        <p:nvSpPr>
          <p:cNvPr id="9" name="TextBox 8"/>
          <p:cNvSpPr txBox="1"/>
          <p:nvPr/>
        </p:nvSpPr>
        <p:spPr>
          <a:xfrm>
            <a:off x="5453880" y="163860"/>
            <a:ext cx="1168910" cy="369332"/>
          </a:xfrm>
          <a:prstGeom prst="rect">
            <a:avLst/>
          </a:prstGeom>
          <a:noFill/>
        </p:spPr>
        <p:txBody>
          <a:bodyPr wrap="none" rtlCol="0">
            <a:spAutoFit/>
          </a:bodyPr>
          <a:lstStyle/>
          <a:p>
            <a:pPr algn="ctr"/>
            <a:r>
              <a:rPr lang="en-US" dirty="0"/>
              <a:t>RAIM</a:t>
            </a:r>
            <a:r>
              <a:rPr lang="ru-RU" dirty="0"/>
              <a:t>. </a:t>
            </a:r>
            <a:r>
              <a:rPr lang="en-US" dirty="0" smtClean="0"/>
              <a:t>FDE</a:t>
            </a:r>
            <a:endParaRPr lang="ru-RU" dirty="0"/>
          </a:p>
        </p:txBody>
      </p:sp>
      <p:sp>
        <p:nvSpPr>
          <p:cNvPr id="2" name="Прямоугольник 1"/>
          <p:cNvSpPr/>
          <p:nvPr/>
        </p:nvSpPr>
        <p:spPr>
          <a:xfrm>
            <a:off x="217991" y="1029730"/>
            <a:ext cx="11850441" cy="5078313"/>
          </a:xfrm>
          <a:prstGeom prst="rect">
            <a:avLst/>
          </a:prstGeom>
        </p:spPr>
        <p:txBody>
          <a:bodyPr wrap="square">
            <a:spAutoFit/>
          </a:bodyPr>
          <a:lstStyle/>
          <a:p>
            <a:pPr>
              <a:lnSpc>
                <a:spcPct val="150000"/>
              </a:lnSpc>
            </a:pPr>
            <a:r>
              <a:rPr lang="ru-RU" dirty="0">
                <a:solidFill>
                  <a:srgbClr val="0F1115"/>
                </a:solidFill>
                <a:latin typeface="quote-cjk-patch"/>
              </a:rPr>
              <a:t>Системы GPS обладают высокой доступностью точного горизонтального позиционирования, но методы обнаружения и исключения отказов (FDE), основанные на избыточности спутников, не обеспечивают доступности, достаточной для навигации как основного средства на этапах полета в терминальной зоне и неточного захода на посадку. Различные типы дополнений, такие как WAAS, </a:t>
            </a:r>
            <a:r>
              <a:rPr lang="ru-RU" dirty="0" err="1">
                <a:solidFill>
                  <a:srgbClr val="0F1115"/>
                </a:solidFill>
                <a:latin typeface="quote-cjk-patch"/>
              </a:rPr>
              <a:t>Loran</a:t>
            </a:r>
            <a:r>
              <a:rPr lang="ru-RU" dirty="0">
                <a:solidFill>
                  <a:srgbClr val="0F1115"/>
                </a:solidFill>
                <a:latin typeface="quote-cjk-patch"/>
              </a:rPr>
              <a:t>, барометрическая </a:t>
            </a:r>
            <a:r>
              <a:rPr lang="ru-RU" dirty="0" err="1">
                <a:solidFill>
                  <a:srgbClr val="0F1115"/>
                </a:solidFill>
                <a:latin typeface="quote-cjk-patch"/>
              </a:rPr>
              <a:t>подгрузка</a:t>
            </a:r>
            <a:r>
              <a:rPr lang="ru-RU" dirty="0">
                <a:solidFill>
                  <a:srgbClr val="0F1115"/>
                </a:solidFill>
                <a:latin typeface="quote-cjk-patch"/>
              </a:rPr>
              <a:t>, атомные часы и </a:t>
            </a:r>
            <a:r>
              <a:rPr lang="ru-RU" dirty="0" smtClean="0">
                <a:solidFill>
                  <a:srgbClr val="0F1115"/>
                </a:solidFill>
                <a:latin typeface="quote-cjk-patch"/>
              </a:rPr>
              <a:t>инерциальная поддержка решения, </a:t>
            </a:r>
            <a:r>
              <a:rPr lang="ru-RU" dirty="0">
                <a:solidFill>
                  <a:srgbClr val="0F1115"/>
                </a:solidFill>
                <a:latin typeface="quote-cjk-patch"/>
              </a:rPr>
              <a:t>рассматриваются для достижения доступности целостности как основного средства. Доступность FDE будет зависеть от геометрии спутников, используемых для позиционирования. Доступность спутников с хорошей геометрией, в свою очередь, является функцией состояния созвездия GPS (например, отказов и технического обслуживания). Методы расчета доступности были разработаны и приняты RTCA </a:t>
            </a:r>
            <a:r>
              <a:rPr lang="ru-RU" dirty="0" err="1">
                <a:solidFill>
                  <a:srgbClr val="0F1115"/>
                </a:solidFill>
                <a:latin typeface="quote-cjk-patch"/>
              </a:rPr>
              <a:t>Special</a:t>
            </a:r>
            <a:r>
              <a:rPr lang="ru-RU" dirty="0">
                <a:solidFill>
                  <a:srgbClr val="0F1115"/>
                </a:solidFill>
                <a:latin typeface="quote-cjk-patch"/>
              </a:rPr>
              <a:t> </a:t>
            </a:r>
            <a:r>
              <a:rPr lang="ru-RU" dirty="0" err="1">
                <a:solidFill>
                  <a:srgbClr val="0F1115"/>
                </a:solidFill>
                <a:latin typeface="quote-cjk-patch"/>
              </a:rPr>
              <a:t>Committee</a:t>
            </a:r>
            <a:r>
              <a:rPr lang="ru-RU" dirty="0">
                <a:solidFill>
                  <a:srgbClr val="0F1115"/>
                </a:solidFill>
                <a:latin typeface="quote-cjk-patch"/>
              </a:rPr>
              <a:t> (SC)-159, и доступность FDE для определенного региона может быть рассчитана для большинства дополнений. </a:t>
            </a:r>
            <a:r>
              <a:rPr lang="ru-RU" dirty="0" smtClean="0">
                <a:solidFill>
                  <a:srgbClr val="0F1115"/>
                </a:solidFill>
                <a:latin typeface="quote-cjk-patch"/>
              </a:rPr>
              <a:t>Требования </a:t>
            </a:r>
            <a:r>
              <a:rPr lang="ru-RU" dirty="0">
                <a:solidFill>
                  <a:srgbClr val="0F1115"/>
                </a:solidFill>
                <a:latin typeface="quote-cjk-patch"/>
              </a:rPr>
              <a:t>к целостности и соответствующие процедуры испытаний, отвечающие будущим потребностям, были разработаны для автономных </a:t>
            </a:r>
            <a:r>
              <a:rPr lang="ru-RU" dirty="0" smtClean="0">
                <a:solidFill>
                  <a:srgbClr val="0F1115"/>
                </a:solidFill>
                <a:latin typeface="quote-cjk-patch"/>
              </a:rPr>
              <a:t>GPS-приемников - </a:t>
            </a:r>
            <a:r>
              <a:rPr lang="en-US" dirty="0" smtClean="0">
                <a:solidFill>
                  <a:srgbClr val="0F1115"/>
                </a:solidFill>
                <a:latin typeface="quote-cjk-patch"/>
              </a:rPr>
              <a:t>RAIM</a:t>
            </a:r>
            <a:r>
              <a:rPr lang="ru-RU" dirty="0" smtClean="0">
                <a:solidFill>
                  <a:srgbClr val="0F1115"/>
                </a:solidFill>
                <a:latin typeface="quote-cjk-patch"/>
              </a:rPr>
              <a:t>. </a:t>
            </a:r>
            <a:endParaRPr lang="ru-RU" dirty="0"/>
          </a:p>
        </p:txBody>
      </p:sp>
    </p:spTree>
    <p:extLst>
      <p:ext uri="{BB962C8B-B14F-4D97-AF65-F5344CB8AC3E}">
        <p14:creationId xmlns:p14="http://schemas.microsoft.com/office/powerpoint/2010/main" val="8714929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623242" y="173680"/>
            <a:ext cx="301686" cy="369332"/>
          </a:xfrm>
          <a:prstGeom prst="rect">
            <a:avLst/>
          </a:prstGeom>
          <a:noFill/>
        </p:spPr>
        <p:txBody>
          <a:bodyPr wrap="none" rtlCol="0">
            <a:spAutoFit/>
          </a:bodyPr>
          <a:lstStyle/>
          <a:p>
            <a:pPr algn="ctr"/>
            <a:r>
              <a:rPr lang="en-US" dirty="0"/>
              <a:t>9</a:t>
            </a:r>
            <a:endParaRPr lang="ru-RU" dirty="0"/>
          </a:p>
        </p:txBody>
      </p:sp>
      <p:sp>
        <p:nvSpPr>
          <p:cNvPr id="9" name="TextBox 8"/>
          <p:cNvSpPr txBox="1"/>
          <p:nvPr/>
        </p:nvSpPr>
        <p:spPr>
          <a:xfrm>
            <a:off x="5453880" y="163860"/>
            <a:ext cx="1168910" cy="369332"/>
          </a:xfrm>
          <a:prstGeom prst="rect">
            <a:avLst/>
          </a:prstGeom>
          <a:noFill/>
        </p:spPr>
        <p:txBody>
          <a:bodyPr wrap="none" rtlCol="0">
            <a:spAutoFit/>
          </a:bodyPr>
          <a:lstStyle/>
          <a:p>
            <a:pPr algn="ctr"/>
            <a:r>
              <a:rPr lang="en-US" dirty="0"/>
              <a:t>RAIM</a:t>
            </a:r>
            <a:r>
              <a:rPr lang="ru-RU" dirty="0"/>
              <a:t>. </a:t>
            </a:r>
            <a:r>
              <a:rPr lang="en-US" dirty="0" smtClean="0"/>
              <a:t>FDE</a:t>
            </a:r>
            <a:endParaRPr lang="ru-RU" dirty="0"/>
          </a:p>
        </p:txBody>
      </p:sp>
      <p:sp>
        <p:nvSpPr>
          <p:cNvPr id="4" name="Прямоугольник 3"/>
          <p:cNvSpPr/>
          <p:nvPr/>
        </p:nvSpPr>
        <p:spPr>
          <a:xfrm>
            <a:off x="238898" y="888797"/>
            <a:ext cx="11829534" cy="5027017"/>
          </a:xfrm>
          <a:prstGeom prst="rect">
            <a:avLst/>
          </a:prstGeom>
        </p:spPr>
        <p:txBody>
          <a:bodyPr wrap="square">
            <a:spAutoFit/>
          </a:bodyPr>
          <a:lstStyle/>
          <a:p>
            <a:pPr>
              <a:lnSpc>
                <a:spcPct val="150000"/>
              </a:lnSpc>
            </a:pPr>
            <a:r>
              <a:rPr lang="ru-RU" dirty="0">
                <a:solidFill>
                  <a:srgbClr val="0F1115"/>
                </a:solidFill>
                <a:latin typeface="quote-cjk-patch"/>
              </a:rPr>
              <a:t>Требования к автономному мониторингу целостности приемника (RAIM), опубликованные в RTCA DO-208, используются на протяжении всего этого документа. Частота ложного обнаружения </a:t>
            </a:r>
            <a:r>
              <a:rPr lang="ru-RU" dirty="0" smtClean="0">
                <a:solidFill>
                  <a:srgbClr val="0F1115"/>
                </a:solidFill>
                <a:latin typeface="quote-cjk-patch"/>
              </a:rPr>
              <a:t>(</a:t>
            </a:r>
            <a:r>
              <a:rPr lang="en-US" dirty="0" err="1" smtClean="0">
                <a:solidFill>
                  <a:srgbClr val="0F1115"/>
                </a:solidFill>
                <a:latin typeface="quote-cjk-patch"/>
              </a:rPr>
              <a:t>pfd</a:t>
            </a:r>
            <a:r>
              <a:rPr lang="ru-RU" dirty="0" smtClean="0">
                <a:solidFill>
                  <a:srgbClr val="0F1115"/>
                </a:solidFill>
                <a:latin typeface="KaTeX_Main"/>
              </a:rPr>
              <a:t>​</a:t>
            </a:r>
            <a:r>
              <a:rPr lang="ru-RU" dirty="0">
                <a:solidFill>
                  <a:srgbClr val="0F1115"/>
                </a:solidFill>
                <a:latin typeface="quote-cjk-patch"/>
              </a:rPr>
              <a:t>) установлена равной 0,002/ч, а вероятность пропуска обнаружения </a:t>
            </a:r>
            <a:r>
              <a:rPr lang="ru-RU" dirty="0" smtClean="0">
                <a:solidFill>
                  <a:srgbClr val="0F1115"/>
                </a:solidFill>
                <a:latin typeface="quote-cjk-patch"/>
              </a:rPr>
              <a:t>(</a:t>
            </a:r>
            <a:r>
              <a:rPr lang="en-US" dirty="0" err="1" smtClean="0">
                <a:solidFill>
                  <a:srgbClr val="0F1115"/>
                </a:solidFill>
                <a:latin typeface="KaTeX_Main"/>
              </a:rPr>
              <a:t>pmd</a:t>
            </a:r>
            <a:r>
              <a:rPr lang="ru-RU" dirty="0" smtClean="0">
                <a:solidFill>
                  <a:srgbClr val="0F1115"/>
                </a:solidFill>
                <a:latin typeface="KaTeX_Main"/>
              </a:rPr>
              <a:t>​</a:t>
            </a:r>
            <a:r>
              <a:rPr lang="ru-RU" dirty="0">
                <a:solidFill>
                  <a:srgbClr val="0F1115"/>
                </a:solidFill>
                <a:latin typeface="quote-cjk-patch"/>
              </a:rPr>
              <a:t>) равна 0,001. Пределы оповещения составляют 0,3 морской мили для неточного захода на посадку, 1 морская миля для терминальной зоны и 2 морские мили для </a:t>
            </a:r>
            <a:r>
              <a:rPr lang="ru-RU" dirty="0" smtClean="0">
                <a:solidFill>
                  <a:srgbClr val="0F1115"/>
                </a:solidFill>
                <a:latin typeface="quote-cjk-patch"/>
              </a:rPr>
              <a:t>маршрута</a:t>
            </a:r>
            <a:r>
              <a:rPr lang="en-US" dirty="0" smtClean="0">
                <a:solidFill>
                  <a:srgbClr val="0F1115"/>
                </a:solidFill>
                <a:latin typeface="quote-cjk-patch"/>
              </a:rPr>
              <a:t>/</a:t>
            </a:r>
          </a:p>
          <a:p>
            <a:pPr>
              <a:lnSpc>
                <a:spcPct val="150000"/>
              </a:lnSpc>
            </a:pPr>
            <a:r>
              <a:rPr lang="ru-RU" dirty="0" smtClean="0">
                <a:solidFill>
                  <a:srgbClr val="0F1115"/>
                </a:solidFill>
                <a:latin typeface="KaTeX_Main"/>
              </a:rPr>
              <a:t>​</a:t>
            </a:r>
            <a:r>
              <a:rPr lang="ru-RU" dirty="0">
                <a:solidFill>
                  <a:srgbClr val="0F1115"/>
                </a:solidFill>
                <a:latin typeface="quote-cjk-patch"/>
              </a:rPr>
              <a:t>Отказ в спутнике, который приводит к превышению горизонтальной ошибкой предела оповещения для текущего этапа полета, должен быть объявлен пилоту. Вероятность того, что ошибка положения превысит предел оповещения до того, как будет </a:t>
            </a:r>
            <a:r>
              <a:rPr lang="ru-RU" dirty="0" smtClean="0">
                <a:solidFill>
                  <a:srgbClr val="0F1115"/>
                </a:solidFill>
                <a:latin typeface="quote-cjk-patch"/>
              </a:rPr>
              <a:t>выполнена сигнализация, </a:t>
            </a:r>
            <a:r>
              <a:rPr lang="ru-RU" dirty="0">
                <a:solidFill>
                  <a:srgbClr val="0F1115"/>
                </a:solidFill>
                <a:latin typeface="quote-cjk-patch"/>
              </a:rPr>
              <a:t>должна быть меньше или равна </a:t>
            </a:r>
            <a:r>
              <a:rPr lang="ru-RU" dirty="0" err="1" smtClean="0">
                <a:solidFill>
                  <a:srgbClr val="0F1115"/>
                </a:solidFill>
                <a:latin typeface="KaTeX_Main"/>
              </a:rPr>
              <a:t>pmd</a:t>
            </a:r>
            <a:r>
              <a:rPr lang="ru-RU" dirty="0" smtClean="0">
                <a:solidFill>
                  <a:srgbClr val="0F1115"/>
                </a:solidFill>
                <a:latin typeface="KaTeX_Main"/>
              </a:rPr>
              <a:t>​</a:t>
            </a:r>
            <a:r>
              <a:rPr lang="ru-RU" dirty="0">
                <a:solidFill>
                  <a:srgbClr val="0F1115"/>
                </a:solidFill>
                <a:latin typeface="quote-cjk-patch"/>
              </a:rPr>
              <a:t>. Хотя множественные отказы спутников могут привести к </a:t>
            </a:r>
            <a:r>
              <a:rPr lang="ru-RU" dirty="0" smtClean="0">
                <a:solidFill>
                  <a:srgbClr val="0F1115"/>
                </a:solidFill>
                <a:latin typeface="quote-cjk-patch"/>
              </a:rPr>
              <a:t>сигнализации, </a:t>
            </a:r>
            <a:r>
              <a:rPr lang="ru-RU" dirty="0">
                <a:solidFill>
                  <a:srgbClr val="0F1115"/>
                </a:solidFill>
                <a:latin typeface="quote-cjk-patch"/>
              </a:rPr>
              <a:t>при оценке производительности целостности необходимо рассматривать только одиночные отказы спутников. Частота ложного обнаружения является внутренней для алгоритма, и только ложные обнаружения, указывающие на отказы, вызовут ложные </a:t>
            </a:r>
            <a:r>
              <a:rPr lang="ru-RU" dirty="0" smtClean="0">
                <a:solidFill>
                  <a:srgbClr val="0F1115"/>
                </a:solidFill>
                <a:latin typeface="quote-cjk-patch"/>
              </a:rPr>
              <a:t>предупреждения (сигнализации).</a:t>
            </a:r>
            <a:endParaRPr lang="ru-RU" b="0" i="0" dirty="0">
              <a:solidFill>
                <a:srgbClr val="0F1115"/>
              </a:solidFill>
              <a:effectLst/>
              <a:latin typeface="quote-cjk-patch"/>
            </a:endParaRPr>
          </a:p>
        </p:txBody>
      </p:sp>
    </p:spTree>
    <p:extLst>
      <p:ext uri="{BB962C8B-B14F-4D97-AF65-F5344CB8AC3E}">
        <p14:creationId xmlns:p14="http://schemas.microsoft.com/office/powerpoint/2010/main" val="17058738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564733" y="173680"/>
            <a:ext cx="418704" cy="369332"/>
          </a:xfrm>
          <a:prstGeom prst="rect">
            <a:avLst/>
          </a:prstGeom>
          <a:noFill/>
        </p:spPr>
        <p:txBody>
          <a:bodyPr wrap="none" rtlCol="0">
            <a:spAutoFit/>
          </a:bodyPr>
          <a:lstStyle/>
          <a:p>
            <a:pPr algn="ctr"/>
            <a:r>
              <a:rPr lang="ru-RU" dirty="0" smtClean="0"/>
              <a:t>10</a:t>
            </a:r>
            <a:endParaRPr lang="ru-RU" dirty="0"/>
          </a:p>
        </p:txBody>
      </p:sp>
      <p:sp>
        <p:nvSpPr>
          <p:cNvPr id="9" name="TextBox 8"/>
          <p:cNvSpPr txBox="1"/>
          <p:nvPr/>
        </p:nvSpPr>
        <p:spPr>
          <a:xfrm>
            <a:off x="5453880" y="163860"/>
            <a:ext cx="1168910" cy="369332"/>
          </a:xfrm>
          <a:prstGeom prst="rect">
            <a:avLst/>
          </a:prstGeom>
          <a:noFill/>
        </p:spPr>
        <p:txBody>
          <a:bodyPr wrap="none" rtlCol="0">
            <a:spAutoFit/>
          </a:bodyPr>
          <a:lstStyle/>
          <a:p>
            <a:pPr algn="ctr"/>
            <a:r>
              <a:rPr lang="en-US" dirty="0"/>
              <a:t>RAIM</a:t>
            </a:r>
            <a:r>
              <a:rPr lang="ru-RU" dirty="0"/>
              <a:t>. </a:t>
            </a:r>
            <a:r>
              <a:rPr lang="en-US" dirty="0" smtClean="0"/>
              <a:t>FDE</a:t>
            </a:r>
            <a:endParaRPr lang="ru-RU" dirty="0"/>
          </a:p>
        </p:txBody>
      </p:sp>
      <p:pic>
        <p:nvPicPr>
          <p:cNvPr id="2" name="Рисунок 1"/>
          <p:cNvPicPr>
            <a:picLocks noChangeAspect="1"/>
          </p:cNvPicPr>
          <p:nvPr/>
        </p:nvPicPr>
        <p:blipFill>
          <a:blip r:embed="rId2"/>
          <a:stretch>
            <a:fillRect/>
          </a:stretch>
        </p:blipFill>
        <p:spPr>
          <a:xfrm>
            <a:off x="633585" y="1070919"/>
            <a:ext cx="10846156" cy="4258962"/>
          </a:xfrm>
          <a:prstGeom prst="rect">
            <a:avLst/>
          </a:prstGeom>
        </p:spPr>
      </p:pic>
    </p:spTree>
    <p:extLst>
      <p:ext uri="{BB962C8B-B14F-4D97-AF65-F5344CB8AC3E}">
        <p14:creationId xmlns:p14="http://schemas.microsoft.com/office/powerpoint/2010/main" val="37641839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564733" y="173680"/>
            <a:ext cx="418704" cy="369332"/>
          </a:xfrm>
          <a:prstGeom prst="rect">
            <a:avLst/>
          </a:prstGeom>
          <a:noFill/>
        </p:spPr>
        <p:txBody>
          <a:bodyPr wrap="none" rtlCol="0">
            <a:spAutoFit/>
          </a:bodyPr>
          <a:lstStyle/>
          <a:p>
            <a:pPr algn="ctr"/>
            <a:r>
              <a:rPr lang="ru-RU" dirty="0" smtClean="0"/>
              <a:t>11</a:t>
            </a:r>
            <a:endParaRPr lang="ru-RU" dirty="0"/>
          </a:p>
        </p:txBody>
      </p:sp>
      <p:sp>
        <p:nvSpPr>
          <p:cNvPr id="9" name="TextBox 8"/>
          <p:cNvSpPr txBox="1"/>
          <p:nvPr/>
        </p:nvSpPr>
        <p:spPr>
          <a:xfrm>
            <a:off x="4234862" y="163860"/>
            <a:ext cx="3606949" cy="369332"/>
          </a:xfrm>
          <a:prstGeom prst="rect">
            <a:avLst/>
          </a:prstGeom>
          <a:noFill/>
        </p:spPr>
        <p:txBody>
          <a:bodyPr wrap="none" rtlCol="0">
            <a:spAutoFit/>
          </a:bodyPr>
          <a:lstStyle/>
          <a:p>
            <a:pPr algn="ctr"/>
            <a:r>
              <a:rPr lang="en-US" dirty="0"/>
              <a:t>RAIM</a:t>
            </a:r>
            <a:r>
              <a:rPr lang="ru-RU" dirty="0"/>
              <a:t>. </a:t>
            </a:r>
            <a:r>
              <a:rPr lang="ru-RU" dirty="0" smtClean="0"/>
              <a:t>Метод разделения решений</a:t>
            </a:r>
            <a:endParaRPr lang="ru-RU" dirty="0"/>
          </a:p>
        </p:txBody>
      </p:sp>
      <p:pic>
        <p:nvPicPr>
          <p:cNvPr id="4" name="Рисунок 3"/>
          <p:cNvPicPr>
            <a:picLocks noChangeAspect="1"/>
          </p:cNvPicPr>
          <p:nvPr/>
        </p:nvPicPr>
        <p:blipFill>
          <a:blip r:embed="rId2"/>
          <a:stretch>
            <a:fillRect/>
          </a:stretch>
        </p:blipFill>
        <p:spPr>
          <a:xfrm>
            <a:off x="1360209" y="1070921"/>
            <a:ext cx="9356255" cy="2879767"/>
          </a:xfrm>
          <a:prstGeom prst="rect">
            <a:avLst/>
          </a:prstGeom>
        </p:spPr>
      </p:pic>
      <p:pic>
        <p:nvPicPr>
          <p:cNvPr id="5" name="Рисунок 4"/>
          <p:cNvPicPr>
            <a:picLocks noChangeAspect="1"/>
          </p:cNvPicPr>
          <p:nvPr/>
        </p:nvPicPr>
        <p:blipFill>
          <a:blip r:embed="rId3"/>
          <a:stretch>
            <a:fillRect/>
          </a:stretch>
        </p:blipFill>
        <p:spPr>
          <a:xfrm>
            <a:off x="1459273" y="3950688"/>
            <a:ext cx="10020468" cy="1166678"/>
          </a:xfrm>
          <a:prstGeom prst="rect">
            <a:avLst/>
          </a:prstGeom>
        </p:spPr>
      </p:pic>
      <p:pic>
        <p:nvPicPr>
          <p:cNvPr id="10" name="Рисунок 9"/>
          <p:cNvPicPr>
            <a:picLocks noChangeAspect="1"/>
          </p:cNvPicPr>
          <p:nvPr/>
        </p:nvPicPr>
        <p:blipFill>
          <a:blip r:embed="rId4"/>
          <a:stretch>
            <a:fillRect/>
          </a:stretch>
        </p:blipFill>
        <p:spPr>
          <a:xfrm>
            <a:off x="9965724" y="3435178"/>
            <a:ext cx="529281" cy="529281"/>
          </a:xfrm>
          <a:prstGeom prst="rect">
            <a:avLst/>
          </a:prstGeom>
        </p:spPr>
      </p:pic>
      <p:pic>
        <p:nvPicPr>
          <p:cNvPr id="11" name="Рисунок 10"/>
          <p:cNvPicPr>
            <a:picLocks noChangeAspect="1"/>
          </p:cNvPicPr>
          <p:nvPr/>
        </p:nvPicPr>
        <p:blipFill>
          <a:blip r:embed="rId5"/>
          <a:stretch>
            <a:fillRect/>
          </a:stretch>
        </p:blipFill>
        <p:spPr>
          <a:xfrm>
            <a:off x="9987992" y="4443930"/>
            <a:ext cx="578859" cy="451792"/>
          </a:xfrm>
          <a:prstGeom prst="rect">
            <a:avLst/>
          </a:prstGeom>
        </p:spPr>
      </p:pic>
    </p:spTree>
    <p:extLst>
      <p:ext uri="{BB962C8B-B14F-4D97-AF65-F5344CB8AC3E}">
        <p14:creationId xmlns:p14="http://schemas.microsoft.com/office/powerpoint/2010/main" val="2050507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564733" y="173680"/>
            <a:ext cx="418704" cy="369332"/>
          </a:xfrm>
          <a:prstGeom prst="rect">
            <a:avLst/>
          </a:prstGeom>
          <a:noFill/>
        </p:spPr>
        <p:txBody>
          <a:bodyPr wrap="none" rtlCol="0">
            <a:spAutoFit/>
          </a:bodyPr>
          <a:lstStyle/>
          <a:p>
            <a:pPr algn="ctr"/>
            <a:r>
              <a:rPr lang="ru-RU" dirty="0" smtClean="0"/>
              <a:t>12</a:t>
            </a:r>
            <a:endParaRPr lang="ru-RU" dirty="0"/>
          </a:p>
        </p:txBody>
      </p:sp>
      <p:sp>
        <p:nvSpPr>
          <p:cNvPr id="9" name="TextBox 8"/>
          <p:cNvSpPr txBox="1"/>
          <p:nvPr/>
        </p:nvSpPr>
        <p:spPr>
          <a:xfrm>
            <a:off x="4234862" y="163860"/>
            <a:ext cx="3606949" cy="369332"/>
          </a:xfrm>
          <a:prstGeom prst="rect">
            <a:avLst/>
          </a:prstGeom>
          <a:noFill/>
        </p:spPr>
        <p:txBody>
          <a:bodyPr wrap="none" rtlCol="0">
            <a:spAutoFit/>
          </a:bodyPr>
          <a:lstStyle/>
          <a:p>
            <a:pPr algn="ctr"/>
            <a:r>
              <a:rPr lang="en-US" dirty="0"/>
              <a:t>RAIM</a:t>
            </a:r>
            <a:r>
              <a:rPr lang="ru-RU" dirty="0"/>
              <a:t>. </a:t>
            </a:r>
            <a:r>
              <a:rPr lang="ru-RU" dirty="0" smtClean="0"/>
              <a:t>Метод разделения решений</a:t>
            </a:r>
            <a:endParaRPr lang="ru-RU" dirty="0"/>
          </a:p>
        </p:txBody>
      </p:sp>
      <p:pic>
        <p:nvPicPr>
          <p:cNvPr id="8" name="Рисунок 7"/>
          <p:cNvPicPr>
            <a:picLocks noChangeAspect="1"/>
          </p:cNvPicPr>
          <p:nvPr/>
        </p:nvPicPr>
        <p:blipFill>
          <a:blip r:embed="rId2"/>
          <a:stretch>
            <a:fillRect/>
          </a:stretch>
        </p:blipFill>
        <p:spPr>
          <a:xfrm>
            <a:off x="801185" y="1878227"/>
            <a:ext cx="10474302" cy="2652583"/>
          </a:xfrm>
          <a:prstGeom prst="rect">
            <a:avLst/>
          </a:prstGeom>
        </p:spPr>
      </p:pic>
      <p:pic>
        <p:nvPicPr>
          <p:cNvPr id="10" name="Рисунок 9"/>
          <p:cNvPicPr>
            <a:picLocks noChangeAspect="1"/>
          </p:cNvPicPr>
          <p:nvPr/>
        </p:nvPicPr>
        <p:blipFill>
          <a:blip r:embed="rId3"/>
          <a:stretch>
            <a:fillRect/>
          </a:stretch>
        </p:blipFill>
        <p:spPr>
          <a:xfrm>
            <a:off x="10542886" y="3585811"/>
            <a:ext cx="403472" cy="648437"/>
          </a:xfrm>
          <a:prstGeom prst="rect">
            <a:avLst/>
          </a:prstGeom>
        </p:spPr>
      </p:pic>
      <p:pic>
        <p:nvPicPr>
          <p:cNvPr id="11" name="Рисунок 10"/>
          <p:cNvPicPr>
            <a:picLocks noChangeAspect="1"/>
          </p:cNvPicPr>
          <p:nvPr/>
        </p:nvPicPr>
        <p:blipFill>
          <a:blip r:embed="rId4"/>
          <a:stretch>
            <a:fillRect/>
          </a:stretch>
        </p:blipFill>
        <p:spPr>
          <a:xfrm>
            <a:off x="1093750" y="4392956"/>
            <a:ext cx="7714171" cy="1345035"/>
          </a:xfrm>
          <a:prstGeom prst="rect">
            <a:avLst/>
          </a:prstGeom>
        </p:spPr>
      </p:pic>
      <p:pic>
        <p:nvPicPr>
          <p:cNvPr id="12" name="Рисунок 11"/>
          <p:cNvPicPr>
            <a:picLocks noChangeAspect="1"/>
          </p:cNvPicPr>
          <p:nvPr/>
        </p:nvPicPr>
        <p:blipFill>
          <a:blip r:embed="rId5"/>
          <a:stretch>
            <a:fillRect/>
          </a:stretch>
        </p:blipFill>
        <p:spPr>
          <a:xfrm>
            <a:off x="10467881" y="4741291"/>
            <a:ext cx="553481" cy="648363"/>
          </a:xfrm>
          <a:prstGeom prst="rect">
            <a:avLst/>
          </a:prstGeom>
        </p:spPr>
      </p:pic>
    </p:spTree>
    <p:extLst>
      <p:ext uri="{BB962C8B-B14F-4D97-AF65-F5344CB8AC3E}">
        <p14:creationId xmlns:p14="http://schemas.microsoft.com/office/powerpoint/2010/main" val="216526641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564733" y="173680"/>
            <a:ext cx="418704" cy="369332"/>
          </a:xfrm>
          <a:prstGeom prst="rect">
            <a:avLst/>
          </a:prstGeom>
          <a:noFill/>
        </p:spPr>
        <p:txBody>
          <a:bodyPr wrap="none" rtlCol="0">
            <a:spAutoFit/>
          </a:bodyPr>
          <a:lstStyle/>
          <a:p>
            <a:pPr algn="ctr"/>
            <a:r>
              <a:rPr lang="ru-RU" dirty="0" smtClean="0"/>
              <a:t>13</a:t>
            </a:r>
            <a:endParaRPr lang="ru-RU" dirty="0"/>
          </a:p>
        </p:txBody>
      </p:sp>
      <p:sp>
        <p:nvSpPr>
          <p:cNvPr id="9" name="TextBox 8"/>
          <p:cNvSpPr txBox="1"/>
          <p:nvPr/>
        </p:nvSpPr>
        <p:spPr>
          <a:xfrm>
            <a:off x="4234862" y="163860"/>
            <a:ext cx="3606949" cy="369332"/>
          </a:xfrm>
          <a:prstGeom prst="rect">
            <a:avLst/>
          </a:prstGeom>
          <a:noFill/>
        </p:spPr>
        <p:txBody>
          <a:bodyPr wrap="none" rtlCol="0">
            <a:spAutoFit/>
          </a:bodyPr>
          <a:lstStyle/>
          <a:p>
            <a:pPr algn="ctr"/>
            <a:r>
              <a:rPr lang="en-US" dirty="0"/>
              <a:t>RAIM</a:t>
            </a:r>
            <a:r>
              <a:rPr lang="ru-RU" dirty="0"/>
              <a:t>. </a:t>
            </a:r>
            <a:r>
              <a:rPr lang="ru-RU" dirty="0" smtClean="0"/>
              <a:t>Метод разделения решений</a:t>
            </a:r>
            <a:endParaRPr lang="ru-RU" dirty="0"/>
          </a:p>
        </p:txBody>
      </p:sp>
      <p:pic>
        <p:nvPicPr>
          <p:cNvPr id="2" name="Рисунок 1"/>
          <p:cNvPicPr>
            <a:picLocks noChangeAspect="1"/>
          </p:cNvPicPr>
          <p:nvPr/>
        </p:nvPicPr>
        <p:blipFill>
          <a:blip r:embed="rId2"/>
          <a:stretch>
            <a:fillRect/>
          </a:stretch>
        </p:blipFill>
        <p:spPr>
          <a:xfrm>
            <a:off x="1556950" y="469557"/>
            <a:ext cx="9357349" cy="6183784"/>
          </a:xfrm>
          <a:prstGeom prst="rect">
            <a:avLst/>
          </a:prstGeom>
        </p:spPr>
      </p:pic>
    </p:spTree>
    <p:extLst>
      <p:ext uri="{BB962C8B-B14F-4D97-AF65-F5344CB8AC3E}">
        <p14:creationId xmlns:p14="http://schemas.microsoft.com/office/powerpoint/2010/main" val="29408853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564733" y="173680"/>
            <a:ext cx="418704" cy="369332"/>
          </a:xfrm>
          <a:prstGeom prst="rect">
            <a:avLst/>
          </a:prstGeom>
          <a:noFill/>
        </p:spPr>
        <p:txBody>
          <a:bodyPr wrap="none" rtlCol="0">
            <a:spAutoFit/>
          </a:bodyPr>
          <a:lstStyle/>
          <a:p>
            <a:pPr algn="ctr"/>
            <a:r>
              <a:rPr lang="ru-RU" dirty="0" smtClean="0"/>
              <a:t>14</a:t>
            </a:r>
            <a:endParaRPr lang="ru-RU" dirty="0"/>
          </a:p>
        </p:txBody>
      </p:sp>
      <p:sp>
        <p:nvSpPr>
          <p:cNvPr id="9" name="TextBox 8"/>
          <p:cNvSpPr txBox="1"/>
          <p:nvPr/>
        </p:nvSpPr>
        <p:spPr>
          <a:xfrm>
            <a:off x="4234862" y="163860"/>
            <a:ext cx="3606949" cy="369332"/>
          </a:xfrm>
          <a:prstGeom prst="rect">
            <a:avLst/>
          </a:prstGeom>
          <a:noFill/>
        </p:spPr>
        <p:txBody>
          <a:bodyPr wrap="none" rtlCol="0">
            <a:spAutoFit/>
          </a:bodyPr>
          <a:lstStyle/>
          <a:p>
            <a:pPr algn="ctr"/>
            <a:r>
              <a:rPr lang="en-US" dirty="0"/>
              <a:t>RAIM</a:t>
            </a:r>
            <a:r>
              <a:rPr lang="ru-RU" dirty="0"/>
              <a:t>. </a:t>
            </a:r>
            <a:r>
              <a:rPr lang="ru-RU" dirty="0" smtClean="0"/>
              <a:t>Метод разделения решений</a:t>
            </a:r>
            <a:endParaRPr lang="ru-RU" dirty="0"/>
          </a:p>
        </p:txBody>
      </p:sp>
      <p:pic>
        <p:nvPicPr>
          <p:cNvPr id="3" name="Рисунок 2"/>
          <p:cNvPicPr>
            <a:picLocks noChangeAspect="1"/>
          </p:cNvPicPr>
          <p:nvPr/>
        </p:nvPicPr>
        <p:blipFill>
          <a:blip r:embed="rId2"/>
          <a:stretch>
            <a:fillRect/>
          </a:stretch>
        </p:blipFill>
        <p:spPr>
          <a:xfrm>
            <a:off x="1062681" y="533192"/>
            <a:ext cx="9643993" cy="6031422"/>
          </a:xfrm>
          <a:prstGeom prst="rect">
            <a:avLst/>
          </a:prstGeom>
        </p:spPr>
      </p:pic>
    </p:spTree>
    <p:extLst>
      <p:ext uri="{BB962C8B-B14F-4D97-AF65-F5344CB8AC3E}">
        <p14:creationId xmlns:p14="http://schemas.microsoft.com/office/powerpoint/2010/main" val="85935488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564733" y="173680"/>
            <a:ext cx="418704" cy="369332"/>
          </a:xfrm>
          <a:prstGeom prst="rect">
            <a:avLst/>
          </a:prstGeom>
          <a:noFill/>
        </p:spPr>
        <p:txBody>
          <a:bodyPr wrap="none" rtlCol="0">
            <a:spAutoFit/>
          </a:bodyPr>
          <a:lstStyle/>
          <a:p>
            <a:pPr algn="ctr"/>
            <a:r>
              <a:rPr lang="ru-RU" dirty="0" smtClean="0"/>
              <a:t>15</a:t>
            </a:r>
            <a:endParaRPr lang="ru-RU" dirty="0"/>
          </a:p>
        </p:txBody>
      </p:sp>
      <p:sp>
        <p:nvSpPr>
          <p:cNvPr id="9" name="TextBox 8"/>
          <p:cNvSpPr txBox="1"/>
          <p:nvPr/>
        </p:nvSpPr>
        <p:spPr>
          <a:xfrm>
            <a:off x="4234862" y="163860"/>
            <a:ext cx="3606949" cy="369332"/>
          </a:xfrm>
          <a:prstGeom prst="rect">
            <a:avLst/>
          </a:prstGeom>
          <a:noFill/>
        </p:spPr>
        <p:txBody>
          <a:bodyPr wrap="none" rtlCol="0">
            <a:spAutoFit/>
          </a:bodyPr>
          <a:lstStyle/>
          <a:p>
            <a:pPr algn="ctr"/>
            <a:r>
              <a:rPr lang="en-US" dirty="0"/>
              <a:t>RAIM</a:t>
            </a:r>
            <a:r>
              <a:rPr lang="ru-RU" dirty="0"/>
              <a:t>. </a:t>
            </a:r>
            <a:r>
              <a:rPr lang="ru-RU" dirty="0" smtClean="0"/>
              <a:t>Метод разделения решений</a:t>
            </a:r>
            <a:endParaRPr lang="ru-RU" dirty="0"/>
          </a:p>
        </p:txBody>
      </p:sp>
      <p:pic>
        <p:nvPicPr>
          <p:cNvPr id="2" name="Рисунок 1"/>
          <p:cNvPicPr>
            <a:picLocks noChangeAspect="1"/>
          </p:cNvPicPr>
          <p:nvPr/>
        </p:nvPicPr>
        <p:blipFill>
          <a:blip r:embed="rId2"/>
          <a:stretch>
            <a:fillRect/>
          </a:stretch>
        </p:blipFill>
        <p:spPr>
          <a:xfrm>
            <a:off x="1361497" y="730575"/>
            <a:ext cx="9353678" cy="5437636"/>
          </a:xfrm>
          <a:prstGeom prst="rect">
            <a:avLst/>
          </a:prstGeom>
        </p:spPr>
      </p:pic>
    </p:spTree>
    <p:extLst>
      <p:ext uri="{BB962C8B-B14F-4D97-AF65-F5344CB8AC3E}">
        <p14:creationId xmlns:p14="http://schemas.microsoft.com/office/powerpoint/2010/main" val="9154757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564733" y="173680"/>
            <a:ext cx="418704" cy="369332"/>
          </a:xfrm>
          <a:prstGeom prst="rect">
            <a:avLst/>
          </a:prstGeom>
          <a:noFill/>
        </p:spPr>
        <p:txBody>
          <a:bodyPr wrap="none" rtlCol="0">
            <a:spAutoFit/>
          </a:bodyPr>
          <a:lstStyle/>
          <a:p>
            <a:pPr algn="ctr"/>
            <a:r>
              <a:rPr lang="ru-RU" dirty="0" smtClean="0"/>
              <a:t>15</a:t>
            </a:r>
            <a:endParaRPr lang="ru-RU" dirty="0"/>
          </a:p>
        </p:txBody>
      </p:sp>
      <p:sp>
        <p:nvSpPr>
          <p:cNvPr id="9" name="TextBox 8"/>
          <p:cNvSpPr txBox="1"/>
          <p:nvPr/>
        </p:nvSpPr>
        <p:spPr>
          <a:xfrm>
            <a:off x="4234862" y="163860"/>
            <a:ext cx="3606949" cy="369332"/>
          </a:xfrm>
          <a:prstGeom prst="rect">
            <a:avLst/>
          </a:prstGeom>
          <a:noFill/>
        </p:spPr>
        <p:txBody>
          <a:bodyPr wrap="none" rtlCol="0">
            <a:spAutoFit/>
          </a:bodyPr>
          <a:lstStyle/>
          <a:p>
            <a:pPr algn="ctr"/>
            <a:r>
              <a:rPr lang="en-US" dirty="0"/>
              <a:t>RAIM</a:t>
            </a:r>
            <a:r>
              <a:rPr lang="ru-RU" dirty="0"/>
              <a:t>. </a:t>
            </a:r>
            <a:r>
              <a:rPr lang="ru-RU" dirty="0" smtClean="0"/>
              <a:t>Метод разделения решений</a:t>
            </a:r>
            <a:endParaRPr lang="ru-RU" dirty="0"/>
          </a:p>
        </p:txBody>
      </p:sp>
      <p:pic>
        <p:nvPicPr>
          <p:cNvPr id="3" name="Рисунок 2"/>
          <p:cNvPicPr>
            <a:picLocks noChangeAspect="1"/>
          </p:cNvPicPr>
          <p:nvPr/>
        </p:nvPicPr>
        <p:blipFill>
          <a:blip r:embed="rId2"/>
          <a:stretch>
            <a:fillRect/>
          </a:stretch>
        </p:blipFill>
        <p:spPr>
          <a:xfrm>
            <a:off x="741000" y="1359244"/>
            <a:ext cx="10738741" cy="3782198"/>
          </a:xfrm>
          <a:prstGeom prst="rect">
            <a:avLst/>
          </a:prstGeom>
        </p:spPr>
      </p:pic>
    </p:spTree>
    <p:extLst>
      <p:ext uri="{BB962C8B-B14F-4D97-AF65-F5344CB8AC3E}">
        <p14:creationId xmlns:p14="http://schemas.microsoft.com/office/powerpoint/2010/main" val="3102058920"/>
      </p:ext>
    </p:extLst>
  </p:cSld>
  <p:clrMapOvr>
    <a:masterClrMapping/>
  </p:clrMapOvr>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223</TotalTime>
  <Words>728</Words>
  <Application>Microsoft Office PowerPoint</Application>
  <PresentationFormat>Широкоэкранный</PresentationFormat>
  <Paragraphs>49</Paragraphs>
  <Slides>16</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16</vt:i4>
      </vt:variant>
    </vt:vector>
  </HeadingPairs>
  <TitlesOfParts>
    <vt:vector size="22" baseType="lpstr">
      <vt:lpstr>Arial</vt:lpstr>
      <vt:lpstr>Calibri</vt:lpstr>
      <vt:lpstr>Calibri Light</vt:lpstr>
      <vt:lpstr>KaTeX_Main</vt:lpstr>
      <vt:lpstr>quote-cjk-patch</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Antonov</dc:creator>
  <cp:lastModifiedBy>Antonov</cp:lastModifiedBy>
  <cp:revision>63</cp:revision>
  <dcterms:created xsi:type="dcterms:W3CDTF">2026-02-17T04:06:16Z</dcterms:created>
  <dcterms:modified xsi:type="dcterms:W3CDTF">2026-04-06T05:24:17Z</dcterms:modified>
</cp:coreProperties>
</file>